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azydog" charset="1" panose="00000000000000000000"/>
      <p:regular r:id="rId18"/>
    </p:embeddedFont>
    <p:embeddedFont>
      <p:font typeface="Inter Bold" charset="1" panose="020B0802030000000004"/>
      <p:regular r:id="rId19"/>
    </p:embeddedFont>
    <p:embeddedFont>
      <p:font typeface="Inter" charset="1" panose="020B050203000000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svg" Type="http://schemas.openxmlformats.org/officeDocument/2006/relationships/image"/><Relationship Id="rId31" Target="../media/image30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33.pn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pn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37.pn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38.pn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https://duocuc-team-nylqnfbe.atlassian.net/jira/software/projects/AJ/boards/68?filter=&amp;groupBy=none&amp;atlOrigin=eyJpIjoiZmVhYWVhYTU4N2UyNDE0NGE1YmE0YTJmZDNiOTU0YTgiLCJwIjoiaiJ9" TargetMode="External" Type="http://schemas.openxmlformats.org/officeDocument/2006/relationships/hyperlink"/><Relationship Id="rId16" Target="../media/image39.png" Type="http://schemas.openxmlformats.org/officeDocument/2006/relationships/image"/><Relationship Id="rId17" Target="../media/image40.svg" Type="http://schemas.openxmlformats.org/officeDocument/2006/relationships/image"/><Relationship Id="rId18" Target="../media/image41.png" Type="http://schemas.openxmlformats.org/officeDocument/2006/relationships/image"/><Relationship Id="rId19" Target="../media/image42.sv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https://duocuc-team-nylqnfbe.atlassian.net/jira/software/projects/AJ/boards/68?filter=&amp;groupBy=none&amp;atlOrigin=eyJpIjoiZmVhYWVhYTU4N2UyNDE0NGE1YmE0YTJmZDNiOTU0YTgiLCJwIjoiaiJ9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https://duocuc-team-nylqnfbe.atlassian.net/jira/software/projects/AJ/boards/68?filter=&amp;groupBy=none&amp;atlOrigin=eyJpIjoiZmVhYWVhYTU4N2UyNDE0NGE1YmE0YTJmZDNiOTU0YTgiLCJwIjoiaiJ9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43.png" Type="http://schemas.openxmlformats.org/officeDocument/2006/relationships/image"/><Relationship Id="rId16" Target="../media/image44.svg" Type="http://schemas.openxmlformats.org/officeDocument/2006/relationships/image"/><Relationship Id="rId17" Target="../media/image45.png" Type="http://schemas.openxmlformats.org/officeDocument/2006/relationships/image"/><Relationship Id="rId18" Target="../media/image46.sv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47.png" Type="http://schemas.openxmlformats.org/officeDocument/2006/relationships/image"/><Relationship Id="rId16" Target="https://duocuc-team-nylqnfbe.atlassian.net/jira/software/projects/AJ/boards/68?filter=&amp;groupBy=none&amp;atlOrigin=eyJpIjoiZmVhYWVhYTU4N2UyNDE0NGE1YmE0YTJmZDNiOTU0YTgiLCJwIjoiaiJ9" TargetMode="External" Type="http://schemas.openxmlformats.org/officeDocument/2006/relationships/hyperlink"/><Relationship Id="rId17" Target="https://duocuc-team-nylqnfbe.atlassian.net/jira/software/projects/AJ/boards/68?filter=&amp;groupBy=none&amp;atlOrigin=eyJpIjoiZmVhYWVhYTU4N2UyNDE0NGE1YmE0YTJmZDNiOTU0YTgiLCJwIjoiaiJ9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48.pn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49.png" Type="http://schemas.openxmlformats.org/officeDocument/2006/relationships/image"/><Relationship Id="rId16" Target="../media/image50.svg" Type="http://schemas.openxmlformats.org/officeDocument/2006/relationships/image"/><Relationship Id="rId17" Target="../media/image51.pn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529695" y="6214160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9"/>
                </a:lnTo>
                <a:lnTo>
                  <a:pt x="0" y="137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215" y="9478517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81008" y="568547"/>
            <a:ext cx="4144334" cy="753515"/>
          </a:xfrm>
          <a:custGeom>
            <a:avLst/>
            <a:gdLst/>
            <a:ahLst/>
            <a:cxnLst/>
            <a:rect r="r" b="b" t="t" l="l"/>
            <a:pathLst>
              <a:path h="753515" w="4144334">
                <a:moveTo>
                  <a:pt x="0" y="0"/>
                </a:moveTo>
                <a:lnTo>
                  <a:pt x="4144333" y="0"/>
                </a:lnTo>
                <a:lnTo>
                  <a:pt x="4144333" y="753515"/>
                </a:lnTo>
                <a:lnTo>
                  <a:pt x="0" y="7535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6753" y="-2672866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4" y="0"/>
                </a:lnTo>
                <a:lnTo>
                  <a:pt x="3547364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568853" y="9750463"/>
            <a:ext cx="3883538" cy="706098"/>
          </a:xfrm>
          <a:custGeom>
            <a:avLst/>
            <a:gdLst/>
            <a:ahLst/>
            <a:cxnLst/>
            <a:rect r="r" b="b" t="t" l="l"/>
            <a:pathLst>
              <a:path h="706098" w="3883538">
                <a:moveTo>
                  <a:pt x="0" y="0"/>
                </a:moveTo>
                <a:lnTo>
                  <a:pt x="3883538" y="0"/>
                </a:lnTo>
                <a:lnTo>
                  <a:pt x="3883538" y="706098"/>
                </a:lnTo>
                <a:lnTo>
                  <a:pt x="0" y="7060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-2632776" y="5358832"/>
            <a:ext cx="3566226" cy="3216087"/>
          </a:xfrm>
          <a:custGeom>
            <a:avLst/>
            <a:gdLst/>
            <a:ahLst/>
            <a:cxnLst/>
            <a:rect r="r" b="b" t="t" l="l"/>
            <a:pathLst>
              <a:path h="3216087" w="3566226">
                <a:moveTo>
                  <a:pt x="0" y="0"/>
                </a:moveTo>
                <a:lnTo>
                  <a:pt x="3566226" y="0"/>
                </a:lnTo>
                <a:lnTo>
                  <a:pt x="3566226" y="3216087"/>
                </a:lnTo>
                <a:lnTo>
                  <a:pt x="0" y="321608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3743327" y="9794280"/>
            <a:ext cx="3883055" cy="1499830"/>
          </a:xfrm>
          <a:custGeom>
            <a:avLst/>
            <a:gdLst/>
            <a:ahLst/>
            <a:cxnLst/>
            <a:rect r="r" b="b" t="t" l="l"/>
            <a:pathLst>
              <a:path h="1499830" w="3883055">
                <a:moveTo>
                  <a:pt x="0" y="0"/>
                </a:moveTo>
                <a:lnTo>
                  <a:pt x="3883056" y="0"/>
                </a:lnTo>
                <a:lnTo>
                  <a:pt x="3883056" y="1499830"/>
                </a:lnTo>
                <a:lnTo>
                  <a:pt x="0" y="149983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40714" y="-1790751"/>
            <a:ext cx="3673297" cy="2751633"/>
          </a:xfrm>
          <a:custGeom>
            <a:avLst/>
            <a:gdLst/>
            <a:ahLst/>
            <a:cxnLst/>
            <a:rect r="r" b="b" t="t" l="l"/>
            <a:pathLst>
              <a:path h="2751633" w="3673297">
                <a:moveTo>
                  <a:pt x="0" y="0"/>
                </a:moveTo>
                <a:lnTo>
                  <a:pt x="3673297" y="0"/>
                </a:lnTo>
                <a:lnTo>
                  <a:pt x="3673297" y="2751634"/>
                </a:lnTo>
                <a:lnTo>
                  <a:pt x="0" y="275163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529539" y="9478517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5" y="0"/>
                </a:lnTo>
                <a:lnTo>
                  <a:pt x="2551035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7354550" y="1463911"/>
            <a:ext cx="5282798" cy="2910341"/>
          </a:xfrm>
          <a:custGeom>
            <a:avLst/>
            <a:gdLst/>
            <a:ahLst/>
            <a:cxnLst/>
            <a:rect r="r" b="b" t="t" l="l"/>
            <a:pathLst>
              <a:path h="2910341" w="5282798">
                <a:moveTo>
                  <a:pt x="0" y="0"/>
                </a:moveTo>
                <a:lnTo>
                  <a:pt x="5282798" y="0"/>
                </a:lnTo>
                <a:lnTo>
                  <a:pt x="5282798" y="2910342"/>
                </a:lnTo>
                <a:lnTo>
                  <a:pt x="0" y="291034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5400000">
            <a:off x="7425645" y="-2464352"/>
            <a:ext cx="2809872" cy="3585683"/>
          </a:xfrm>
          <a:custGeom>
            <a:avLst/>
            <a:gdLst/>
            <a:ahLst/>
            <a:cxnLst/>
            <a:rect r="r" b="b" t="t" l="l"/>
            <a:pathLst>
              <a:path h="3585683" w="2809872">
                <a:moveTo>
                  <a:pt x="0" y="0"/>
                </a:moveTo>
                <a:lnTo>
                  <a:pt x="2809872" y="0"/>
                </a:lnTo>
                <a:lnTo>
                  <a:pt x="2809872" y="3585683"/>
                </a:lnTo>
                <a:lnTo>
                  <a:pt x="0" y="3585683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-2232227" y="2799055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0234036" y="1741071"/>
            <a:ext cx="1106678" cy="1418818"/>
          </a:xfrm>
          <a:custGeom>
            <a:avLst/>
            <a:gdLst/>
            <a:ahLst/>
            <a:cxnLst/>
            <a:rect r="r" b="b" t="t" l="l"/>
            <a:pathLst>
              <a:path h="1418818" w="1106678">
                <a:moveTo>
                  <a:pt x="0" y="0"/>
                </a:moveTo>
                <a:lnTo>
                  <a:pt x="1106678" y="0"/>
                </a:lnTo>
                <a:lnTo>
                  <a:pt x="1106678" y="1418818"/>
                </a:lnTo>
                <a:lnTo>
                  <a:pt x="0" y="1418818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9651460" y="1096868"/>
            <a:ext cx="6858229" cy="8043342"/>
            <a:chOff x="0" y="0"/>
            <a:chExt cx="1072489" cy="12578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489" cy="1257817"/>
            </a:xfrm>
            <a:custGeom>
              <a:avLst/>
              <a:gdLst/>
              <a:ahLst/>
              <a:cxnLst/>
              <a:rect r="r" b="b" t="t" l="l"/>
              <a:pathLst>
                <a:path h="1257817" w="1072489">
                  <a:moveTo>
                    <a:pt x="33866" y="0"/>
                  </a:moveTo>
                  <a:lnTo>
                    <a:pt x="1038623" y="0"/>
                  </a:lnTo>
                  <a:cubicBezTo>
                    <a:pt x="1057327" y="0"/>
                    <a:pt x="1072489" y="15162"/>
                    <a:pt x="1072489" y="33866"/>
                  </a:cubicBezTo>
                  <a:lnTo>
                    <a:pt x="1072489" y="1223951"/>
                  </a:lnTo>
                  <a:cubicBezTo>
                    <a:pt x="1072489" y="1242654"/>
                    <a:pt x="1057327" y="1257817"/>
                    <a:pt x="1038623" y="1257817"/>
                  </a:cubicBezTo>
                  <a:lnTo>
                    <a:pt x="33866" y="1257817"/>
                  </a:lnTo>
                  <a:cubicBezTo>
                    <a:pt x="15162" y="1257817"/>
                    <a:pt x="0" y="1242654"/>
                    <a:pt x="0" y="1223951"/>
                  </a:cubicBezTo>
                  <a:lnTo>
                    <a:pt x="0" y="33866"/>
                  </a:lnTo>
                  <a:cubicBezTo>
                    <a:pt x="0" y="15162"/>
                    <a:pt x="15162" y="0"/>
                    <a:pt x="33866" y="0"/>
                  </a:cubicBezTo>
                  <a:close/>
                </a:path>
              </a:pathLst>
            </a:custGeom>
            <a:blipFill>
              <a:blip r:embed="rId31"/>
              <a:stretch>
                <a:fillRect l="0" t="-8301" r="0" b="-830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26753" y="1664879"/>
            <a:ext cx="6400529" cy="6957243"/>
            <a:chOff x="0" y="0"/>
            <a:chExt cx="8534038" cy="9276324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180975"/>
              <a:ext cx="8534038" cy="5246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13"/>
                </a:lnSpc>
              </a:pPr>
              <a:r>
                <a:rPr lang="en-US" sz="10013">
                  <a:solidFill>
                    <a:srgbClr val="FFFFFF"/>
                  </a:solidFill>
                  <a:latin typeface="Lazydog"/>
                  <a:ea typeface="Lazydog"/>
                  <a:cs typeface="Lazydog"/>
                  <a:sym typeface="Lazydog"/>
                </a:rPr>
                <a:t>Proyecto "aprendo jugando"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84574" y="5412349"/>
              <a:ext cx="7164890" cy="3863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99"/>
                </a:lnSpc>
              </a:pPr>
              <a:r>
                <a:rPr lang="en-US" b="true" sz="2999" spc="308">
                  <a:solidFill>
                    <a:srgbClr val="F7F5E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Doc</a:t>
              </a:r>
              <a:r>
                <a:rPr lang="en-US" b="true" sz="2999" spc="308">
                  <a:solidFill>
                    <a:srgbClr val="F7F5E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ente:</a:t>
              </a:r>
            </a:p>
            <a:p>
              <a:pPr algn="ctr">
                <a:lnSpc>
                  <a:spcPts val="3899"/>
                </a:lnSpc>
              </a:pPr>
              <a:r>
                <a:rPr lang="en-US" b="true" sz="2999" spc="308">
                  <a:solidFill>
                    <a:srgbClr val="F7F5E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Eliana Mallén González </a:t>
              </a:r>
            </a:p>
            <a:p>
              <a:pPr algn="ctr">
                <a:lnSpc>
                  <a:spcPts val="3899"/>
                </a:lnSpc>
              </a:pPr>
              <a:r>
                <a:rPr lang="en-US" b="true" sz="2999" spc="308">
                  <a:solidFill>
                    <a:srgbClr val="F7F5E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Integrantes: </a:t>
              </a:r>
            </a:p>
            <a:p>
              <a:pPr algn="ctr">
                <a:lnSpc>
                  <a:spcPts val="3899"/>
                </a:lnSpc>
              </a:pPr>
              <a:r>
                <a:rPr lang="en-US" b="true" sz="2999" spc="308">
                  <a:solidFill>
                    <a:srgbClr val="F7F5E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Jonathan Araneda</a:t>
              </a:r>
            </a:p>
            <a:p>
              <a:pPr algn="ctr">
                <a:lnSpc>
                  <a:spcPts val="3899"/>
                </a:lnSpc>
              </a:pPr>
              <a:r>
                <a:rPr lang="en-US" b="true" sz="2999" spc="308">
                  <a:solidFill>
                    <a:srgbClr val="F7F5E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Diego Martínez</a:t>
              </a:r>
            </a:p>
            <a:p>
              <a:pPr algn="ctr">
                <a:lnSpc>
                  <a:spcPts val="3899"/>
                </a:lnSpc>
              </a:pPr>
              <a:r>
                <a:rPr lang="en-US" b="true" sz="2999" spc="308">
                  <a:solidFill>
                    <a:srgbClr val="F7F5E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Nicolás Valenzuela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529695" y="6214160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9"/>
                </a:lnTo>
                <a:lnTo>
                  <a:pt x="0" y="137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215" y="9478517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97350" y="-2408244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5" y="0"/>
                </a:lnTo>
                <a:lnTo>
                  <a:pt x="3547365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1178119" y="9227091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5" y="0"/>
                </a:lnTo>
                <a:lnTo>
                  <a:pt x="2551035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380537" y="2749217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4679438" y="995362"/>
            <a:ext cx="8929123" cy="8296275"/>
            <a:chOff x="0" y="0"/>
            <a:chExt cx="11905498" cy="110617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85750"/>
              <a:ext cx="11905498" cy="2762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4999"/>
                </a:lnSpc>
                <a:spcBef>
                  <a:spcPct val="0"/>
                </a:spcBef>
              </a:pPr>
              <a:r>
                <a:rPr lang="en-US" sz="14999" spc="-449">
                  <a:solidFill>
                    <a:srgbClr val="F7F5E6"/>
                  </a:solidFill>
                  <a:latin typeface="Lazydog"/>
                  <a:ea typeface="Lazydog"/>
                  <a:cs typeface="Lazydog"/>
                  <a:sym typeface="Lazydog"/>
                </a:rPr>
                <a:t>Contexto 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741116" y="2390326"/>
              <a:ext cx="10423265" cy="8671374"/>
            </a:xfrm>
            <a:custGeom>
              <a:avLst/>
              <a:gdLst/>
              <a:ahLst/>
              <a:cxnLst/>
              <a:rect r="r" b="b" t="t" l="l"/>
              <a:pathLst>
                <a:path h="8671374" w="10423265">
                  <a:moveTo>
                    <a:pt x="0" y="0"/>
                  </a:moveTo>
                  <a:lnTo>
                    <a:pt x="10423265" y="0"/>
                  </a:lnTo>
                  <a:lnTo>
                    <a:pt x="10423265" y="8671374"/>
                  </a:lnTo>
                  <a:lnTo>
                    <a:pt x="0" y="8671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529695" y="6214160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9"/>
                </a:lnTo>
                <a:lnTo>
                  <a:pt x="0" y="137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215" y="9478517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97350" y="-2408244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5" y="0"/>
                </a:lnTo>
                <a:lnTo>
                  <a:pt x="3547365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395127" y="9039748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5" y="0"/>
                </a:lnTo>
                <a:lnTo>
                  <a:pt x="2551035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380537" y="2749217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3755822" y="675811"/>
            <a:ext cx="10776357" cy="8935379"/>
            <a:chOff x="0" y="0"/>
            <a:chExt cx="14368476" cy="1191383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19075"/>
              <a:ext cx="14368476" cy="2251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200"/>
                </a:lnSpc>
                <a:spcBef>
                  <a:spcPct val="0"/>
                </a:spcBef>
              </a:pPr>
              <a:r>
                <a:rPr lang="en-US" sz="12200" spc="-366">
                  <a:solidFill>
                    <a:srgbClr val="F7F5E6"/>
                  </a:solidFill>
                  <a:latin typeface="Lazydog"/>
                  <a:ea typeface="Lazydog"/>
                  <a:cs typeface="Lazydog"/>
                  <a:sym typeface="Lazydog"/>
                </a:rPr>
                <a:t>Problemática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-1458343">
              <a:off x="1641617" y="3591384"/>
              <a:ext cx="3044705" cy="3044705"/>
            </a:xfrm>
            <a:custGeom>
              <a:avLst/>
              <a:gdLst/>
              <a:ahLst/>
              <a:cxnLst/>
              <a:rect r="r" b="b" t="t" l="l"/>
              <a:pathLst>
                <a:path h="3044705" w="3044705">
                  <a:moveTo>
                    <a:pt x="0" y="0"/>
                  </a:moveTo>
                  <a:lnTo>
                    <a:pt x="3044705" y="0"/>
                  </a:lnTo>
                  <a:lnTo>
                    <a:pt x="3044705" y="3044705"/>
                  </a:lnTo>
                  <a:lnTo>
                    <a:pt x="0" y="3044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2303768">
              <a:off x="9367030" y="3086891"/>
              <a:ext cx="3044705" cy="3044705"/>
            </a:xfrm>
            <a:custGeom>
              <a:avLst/>
              <a:gdLst/>
              <a:ahLst/>
              <a:cxnLst/>
              <a:rect r="r" b="b" t="t" l="l"/>
              <a:pathLst>
                <a:path h="3044705" w="3044705">
                  <a:moveTo>
                    <a:pt x="0" y="0"/>
                  </a:moveTo>
                  <a:lnTo>
                    <a:pt x="3044705" y="0"/>
                  </a:lnTo>
                  <a:lnTo>
                    <a:pt x="3044705" y="3044706"/>
                  </a:lnTo>
                  <a:lnTo>
                    <a:pt x="0" y="3044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918369" y="3099713"/>
              <a:ext cx="11300161" cy="8814125"/>
            </a:xfrm>
            <a:custGeom>
              <a:avLst/>
              <a:gdLst/>
              <a:ahLst/>
              <a:cxnLst/>
              <a:rect r="r" b="b" t="t" l="l"/>
              <a:pathLst>
                <a:path h="8814125" w="11300161">
                  <a:moveTo>
                    <a:pt x="0" y="0"/>
                  </a:moveTo>
                  <a:lnTo>
                    <a:pt x="11300160" y="0"/>
                  </a:lnTo>
                  <a:lnTo>
                    <a:pt x="11300160" y="8814126"/>
                  </a:lnTo>
                  <a:lnTo>
                    <a:pt x="0" y="8814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529695" y="6214160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9"/>
                </a:lnTo>
                <a:lnTo>
                  <a:pt x="0" y="137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215" y="9478517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97350" y="-2408244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5" y="0"/>
                </a:lnTo>
                <a:lnTo>
                  <a:pt x="3547365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246817" y="9227091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4" y="0"/>
                </a:lnTo>
                <a:lnTo>
                  <a:pt x="2551034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380537" y="2749217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4072004" y="925492"/>
            <a:ext cx="10143991" cy="8436015"/>
            <a:chOff x="0" y="0"/>
            <a:chExt cx="13525322" cy="1124802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274654" y="314325"/>
              <a:ext cx="12976013" cy="31318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959"/>
                </a:lnSpc>
                <a:spcBef>
                  <a:spcPct val="0"/>
                </a:spcBef>
              </a:pPr>
              <a:r>
                <a:rPr lang="en-US" sz="16959" spc="-508">
                  <a:solidFill>
                    <a:srgbClr val="F7F5E6"/>
                  </a:solidFill>
                  <a:latin typeface="Lazydog"/>
                  <a:ea typeface="Lazydog"/>
                  <a:cs typeface="Lazydog"/>
                  <a:sym typeface="Lazydog"/>
                </a:rPr>
                <a:t>Solución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2929948"/>
              <a:ext cx="13525322" cy="8318073"/>
            </a:xfrm>
            <a:custGeom>
              <a:avLst/>
              <a:gdLst/>
              <a:ahLst/>
              <a:cxnLst/>
              <a:rect r="r" b="b" t="t" l="l"/>
              <a:pathLst>
                <a:path h="8318073" w="13525322">
                  <a:moveTo>
                    <a:pt x="0" y="0"/>
                  </a:moveTo>
                  <a:lnTo>
                    <a:pt x="13525322" y="0"/>
                  </a:lnTo>
                  <a:lnTo>
                    <a:pt x="13525322" y="8318073"/>
                  </a:lnTo>
                  <a:lnTo>
                    <a:pt x="0" y="8318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529695" y="6214160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9"/>
                </a:lnTo>
                <a:lnTo>
                  <a:pt x="0" y="137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215" y="9478517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97350" y="-2408244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5" y="0"/>
                </a:lnTo>
                <a:lnTo>
                  <a:pt x="3547365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395127" y="9352804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5" y="0"/>
                </a:lnTo>
                <a:lnTo>
                  <a:pt x="2551035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380537" y="2749217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5491416" y="4113912"/>
            <a:ext cx="6138133" cy="6138133"/>
          </a:xfrm>
          <a:custGeom>
            <a:avLst/>
            <a:gdLst/>
            <a:ahLst/>
            <a:cxnLst/>
            <a:rect r="r" b="b" t="t" l="l"/>
            <a:pathLst>
              <a:path h="6138133" w="6138133">
                <a:moveTo>
                  <a:pt x="0" y="0"/>
                </a:moveTo>
                <a:lnTo>
                  <a:pt x="6138133" y="0"/>
                </a:lnTo>
                <a:lnTo>
                  <a:pt x="6138133" y="6138132"/>
                </a:lnTo>
                <a:lnTo>
                  <a:pt x="0" y="613813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73144" y="1606234"/>
            <a:ext cx="11741711" cy="194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00"/>
              </a:lnSpc>
              <a:spcBef>
                <a:spcPct val="0"/>
              </a:spcBef>
            </a:pPr>
            <a:r>
              <a:rPr lang="en-US" sz="14500" spc="-435">
                <a:solidFill>
                  <a:srgbClr val="F7F5E6"/>
                </a:solidFill>
                <a:latin typeface="Lazydog"/>
                <a:ea typeface="Lazydog"/>
                <a:cs typeface="Lazydog"/>
                <a:sym typeface="Lazydog"/>
              </a:rPr>
              <a:t>Metodología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529695" y="6214160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9"/>
                </a:lnTo>
                <a:lnTo>
                  <a:pt x="0" y="137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215" y="9478517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97350" y="-2408244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5" y="0"/>
                </a:lnTo>
                <a:lnTo>
                  <a:pt x="3547365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529539" y="9478517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5" y="0"/>
                </a:lnTo>
                <a:lnTo>
                  <a:pt x="2551035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380537" y="2749217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3620007" y="2673620"/>
            <a:ext cx="11047987" cy="5027323"/>
            <a:chOff x="0" y="0"/>
            <a:chExt cx="14730649" cy="670309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80975"/>
              <a:ext cx="14730649" cy="1846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299">
                  <a:solidFill>
                    <a:srgbClr val="F7F5E6"/>
                  </a:solidFill>
                  <a:latin typeface="Lazydog"/>
                  <a:ea typeface="Lazydog"/>
                  <a:cs typeface="Lazydog"/>
                  <a:sym typeface="Lazydog"/>
                  <a:hlinkClick r:id="rId15" tooltip="https://duocuc-team-nylqnfbe.atlassian.net/jira/software/projects/AJ/boards/68?filter=&amp;groupBy=none&amp;atlOrigin=eyJpIjoiZmVhYWVhYTU4N2UyNDE0NGE1YmE0YTJmZDNiOTU0YTgiLCJwIjoiaiJ9"/>
                </a:rPr>
                <a:t>Objetivo General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84523" y="2054885"/>
              <a:ext cx="13961604" cy="4648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b="true" sz="4500" spc="-135">
                  <a:solidFill>
                    <a:srgbClr val="F7F5E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• </a:t>
              </a:r>
              <a:r>
                <a:rPr lang="en-US" b="true" sz="4500" spc="-135">
                  <a:solidFill>
                    <a:srgbClr val="F7F5E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Desarrollar una aplicación móvil educativa gamificada orientada a párvulos de 6 a 7 años para reforzar lectoescritura y cálculo mediante interacción por voz y persistencia local/remota de datos.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14408" y="6625506"/>
            <a:ext cx="3194625" cy="3259822"/>
          </a:xfrm>
          <a:custGeom>
            <a:avLst/>
            <a:gdLst/>
            <a:ahLst/>
            <a:cxnLst/>
            <a:rect r="r" b="b" t="t" l="l"/>
            <a:pathLst>
              <a:path h="3259822" w="3194625">
                <a:moveTo>
                  <a:pt x="0" y="0"/>
                </a:moveTo>
                <a:lnTo>
                  <a:pt x="3194625" y="0"/>
                </a:lnTo>
                <a:lnTo>
                  <a:pt x="3194625" y="3259822"/>
                </a:lnTo>
                <a:lnTo>
                  <a:pt x="0" y="325982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561908" y="550762"/>
            <a:ext cx="3053882" cy="3023343"/>
          </a:xfrm>
          <a:custGeom>
            <a:avLst/>
            <a:gdLst/>
            <a:ahLst/>
            <a:cxnLst/>
            <a:rect r="r" b="b" t="t" l="l"/>
            <a:pathLst>
              <a:path h="3023343" w="3053882">
                <a:moveTo>
                  <a:pt x="0" y="0"/>
                </a:moveTo>
                <a:lnTo>
                  <a:pt x="3053882" y="0"/>
                </a:lnTo>
                <a:lnTo>
                  <a:pt x="3053882" y="3023344"/>
                </a:lnTo>
                <a:lnTo>
                  <a:pt x="0" y="302334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809609">
            <a:off x="15722943" y="-164646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8"/>
                </a:lnTo>
                <a:lnTo>
                  <a:pt x="0" y="137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215" y="9478517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97350" y="-2408244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5" y="0"/>
                </a:lnTo>
                <a:lnTo>
                  <a:pt x="3547365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21833" y="9352804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4" y="0"/>
                </a:lnTo>
                <a:lnTo>
                  <a:pt x="2551034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353017" y="6404785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2545983" y="1334563"/>
            <a:ext cx="13196034" cy="7617873"/>
            <a:chOff x="0" y="0"/>
            <a:chExt cx="17594712" cy="1015716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45827" y="171450"/>
              <a:ext cx="17503058" cy="1750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499"/>
                </a:lnSpc>
                <a:spcBef>
                  <a:spcPct val="0"/>
                </a:spcBef>
              </a:pPr>
              <a:r>
                <a:rPr lang="en-US" sz="9499" spc="-284">
                  <a:solidFill>
                    <a:srgbClr val="F7F5E6"/>
                  </a:solidFill>
                  <a:latin typeface="Lazydog"/>
                  <a:ea typeface="Lazydog"/>
                  <a:cs typeface="Lazydog"/>
                  <a:sym typeface="Lazydog"/>
                  <a:hlinkClick r:id="rId15" tooltip="https://duocuc-team-nylqnfbe.atlassian.net/jira/software/projects/AJ/boards/68?filter=&amp;groupBy=none&amp;atlOrigin=eyJpIjoiZmVhYWVhYTU4N2UyNDE0NGE1YmE0YTJmZDNiOTU0YTgiLCJwIjoiaiJ9"/>
                </a:rPr>
                <a:t>Objetivos Específicos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829032"/>
              <a:ext cx="17594712" cy="8328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83"/>
                </a:lnSpc>
              </a:pPr>
              <a:r>
                <a:rPr lang="en-US" sz="3559">
                  <a:solidFill>
                    <a:srgbClr val="F7F5E6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en-US" sz="3559" b="true">
                  <a:solidFill>
                    <a:srgbClr val="F7F5E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Diseñar una interfaz gráfica accesible libre de texto funcional, soportada íntegramente por síntesis de voz y retroalimentación auditiva interactiva.</a:t>
              </a:r>
            </a:p>
            <a:p>
              <a:pPr algn="ctr">
                <a:lnSpc>
                  <a:spcPts val="4983"/>
                </a:lnSpc>
              </a:pPr>
              <a:r>
                <a:rPr lang="en-US" sz="3559" b="true">
                  <a:solidFill>
                    <a:srgbClr val="F7F5E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• Construir módulos pedagógicos interactivos de Lenguaje (reconocimiento fonético y grafemas) y Matemáticas inicial (conteo y operaciones básicas) mediante dinámicas de gamificación. </a:t>
              </a:r>
            </a:p>
            <a:p>
              <a:pPr algn="ctr">
                <a:lnSpc>
                  <a:spcPts val="4983"/>
                </a:lnSpc>
              </a:pPr>
              <a:r>
                <a:rPr lang="en-US" sz="3559" b="true">
                  <a:solidFill>
                    <a:srgbClr val="F7F5E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• Estructurar un sistema de almacenamiento de datos local y remoto que garantice el registro del progreso pedagógico de forma offline y su sincronización en la nube.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809609">
            <a:off x="15722943" y="-164646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8"/>
                </a:lnTo>
                <a:lnTo>
                  <a:pt x="0" y="137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215" y="9478517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97350" y="-2408244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5" y="0"/>
                </a:lnTo>
                <a:lnTo>
                  <a:pt x="3547365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21833" y="9352804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4" y="0"/>
                </a:lnTo>
                <a:lnTo>
                  <a:pt x="2551034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353017" y="6404785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2580353" y="1639055"/>
            <a:ext cx="13127293" cy="7008890"/>
            <a:chOff x="0" y="0"/>
            <a:chExt cx="17503058" cy="934518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71450"/>
              <a:ext cx="17503058" cy="1750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499"/>
                </a:lnSpc>
                <a:spcBef>
                  <a:spcPct val="0"/>
                </a:spcBef>
              </a:pPr>
              <a:r>
                <a:rPr lang="en-US" sz="9499" spc="-284">
                  <a:solidFill>
                    <a:srgbClr val="F7F5E6"/>
                  </a:solidFill>
                  <a:latin typeface="Lazydog"/>
                  <a:ea typeface="Lazydog"/>
                  <a:cs typeface="Lazydog"/>
                  <a:sym typeface="Lazydog"/>
                  <a:hlinkClick r:id="rId15" tooltip="https://duocuc-team-nylqnfbe.atlassian.net/jira/software/projects/AJ/boards/68?filter=&amp;groupBy=none&amp;atlOrigin=eyJpIjoiZmVhYWVhYTU4N2UyNDE0NGE1YmE0YTJmZDNiOTU0YTgiLCJwIjoiaiJ9"/>
                </a:rPr>
                <a:t>Objetivos Específicos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996769" y="1855254"/>
              <a:ext cx="15509520" cy="7489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83"/>
                </a:lnSpc>
              </a:pPr>
              <a:r>
                <a:rPr lang="en-US" sz="3559" b="true">
                  <a:solidFill>
                    <a:srgbClr val="F7F5E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• Desarrollar un módulo de visualización de métricas y patrones de aprendizaje que permita al educador monitorear el avance, progreso y desempeño individual de cada estudiante. </a:t>
              </a:r>
            </a:p>
            <a:p>
              <a:pPr algn="ctr">
                <a:lnSpc>
                  <a:spcPts val="4983"/>
                </a:lnSpc>
              </a:pPr>
              <a:r>
                <a:rPr lang="en-US" sz="3559" b="true">
                  <a:solidFill>
                    <a:srgbClr val="F7F5E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• Validar la usabilidad, accesibilidad y pertinencia pedagógica de la solución mediante pruebas de usuario y sesiones de retroalimentación con el equipo docente del Instituto Psicopedagógico de Educación Infantil.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529695" y="6214160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9"/>
                </a:lnTo>
                <a:lnTo>
                  <a:pt x="0" y="137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215" y="9478517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97350" y="-2408244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5" y="0"/>
                </a:lnTo>
                <a:lnTo>
                  <a:pt x="3547365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529539" y="9478517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5" y="0"/>
                </a:lnTo>
                <a:lnTo>
                  <a:pt x="2551035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380537" y="2749217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4490148" y="2412987"/>
            <a:ext cx="9307705" cy="565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1"/>
              </a:lnSpc>
            </a:pPr>
            <a:r>
              <a:rPr lang="en-US" sz="11001" spc="-330">
                <a:solidFill>
                  <a:srgbClr val="F7F5E6"/>
                </a:solidFill>
                <a:latin typeface="Lazydog"/>
                <a:ea typeface="Lazydog"/>
                <a:cs typeface="Lazydog"/>
                <a:sym typeface="Lazydog"/>
              </a:rPr>
              <a:t>Factibilidad Integral y Estrategias</a:t>
            </a:r>
          </a:p>
          <a:p>
            <a:pPr algn="ctr" marL="0" indent="0" lvl="0">
              <a:lnSpc>
                <a:spcPts val="11001"/>
              </a:lnSpc>
              <a:spcBef>
                <a:spcPct val="0"/>
              </a:spcBef>
            </a:pPr>
            <a:r>
              <a:rPr lang="en-US" sz="11001" spc="-330">
                <a:solidFill>
                  <a:srgbClr val="F7F5E6"/>
                </a:solidFill>
                <a:latin typeface="Lazydog"/>
                <a:ea typeface="Lazydog"/>
                <a:cs typeface="Lazydog"/>
                <a:sym typeface="Lazydog"/>
              </a:rPr>
              <a:t>de Mitigación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577391">
            <a:off x="13679747" y="576335"/>
            <a:ext cx="3945568" cy="3748289"/>
          </a:xfrm>
          <a:custGeom>
            <a:avLst/>
            <a:gdLst/>
            <a:ahLst/>
            <a:cxnLst/>
            <a:rect r="r" b="b" t="t" l="l"/>
            <a:pathLst>
              <a:path h="3748289" w="3945568">
                <a:moveTo>
                  <a:pt x="0" y="0"/>
                </a:moveTo>
                <a:lnTo>
                  <a:pt x="3945568" y="0"/>
                </a:lnTo>
                <a:lnTo>
                  <a:pt x="3945568" y="3748290"/>
                </a:lnTo>
                <a:lnTo>
                  <a:pt x="0" y="37482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8010" y="7108914"/>
            <a:ext cx="4481914" cy="3159749"/>
          </a:xfrm>
          <a:custGeom>
            <a:avLst/>
            <a:gdLst/>
            <a:ahLst/>
            <a:cxnLst/>
            <a:rect r="r" b="b" t="t" l="l"/>
            <a:pathLst>
              <a:path h="3159749" w="4481914">
                <a:moveTo>
                  <a:pt x="0" y="0"/>
                </a:moveTo>
                <a:lnTo>
                  <a:pt x="4481914" y="0"/>
                </a:lnTo>
                <a:lnTo>
                  <a:pt x="4481914" y="3159750"/>
                </a:lnTo>
                <a:lnTo>
                  <a:pt x="0" y="315975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529695" y="6214160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9"/>
                </a:lnTo>
                <a:lnTo>
                  <a:pt x="0" y="137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215" y="9478517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97350" y="-2408244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5" y="0"/>
                </a:lnTo>
                <a:lnTo>
                  <a:pt x="3547365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395127" y="9016826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5" y="0"/>
                </a:lnTo>
                <a:lnTo>
                  <a:pt x="2551035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380537" y="2749217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4013966" y="4133446"/>
            <a:ext cx="10260069" cy="5540437"/>
          </a:xfrm>
          <a:custGeom>
            <a:avLst/>
            <a:gdLst/>
            <a:ahLst/>
            <a:cxnLst/>
            <a:rect r="r" b="b" t="t" l="l"/>
            <a:pathLst>
              <a:path h="5540437" w="10260069">
                <a:moveTo>
                  <a:pt x="0" y="0"/>
                </a:moveTo>
                <a:lnTo>
                  <a:pt x="10260068" y="0"/>
                </a:lnTo>
                <a:lnTo>
                  <a:pt x="10260068" y="5540437"/>
                </a:lnTo>
                <a:lnTo>
                  <a:pt x="0" y="554043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49646" y="1228725"/>
            <a:ext cx="11388708" cy="286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10999" spc="-329">
                <a:solidFill>
                  <a:srgbClr val="F7F5E6"/>
                </a:solidFill>
                <a:latin typeface="Lazydog"/>
                <a:ea typeface="Lazydog"/>
                <a:cs typeface="Lazydog"/>
                <a:sym typeface="Lazydog"/>
                <a:hlinkClick r:id="rId16" tooltip="https://duocuc-team-nylqnfbe.atlassian.net/jira/software/projects/AJ/boards/68?filter=&amp;groupBy=none&amp;atlOrigin=eyJpIjoiZmVhYWVhYTU4N2UyNDE0NGE1YmE0YTJmZDNiOTU0YTgiLCJwIjoiaiJ9"/>
              </a:rPr>
              <a:t>Plan de Trabajo</a:t>
            </a:r>
          </a:p>
          <a:p>
            <a:pPr algn="ctr" marL="0" indent="0" lvl="0">
              <a:lnSpc>
                <a:spcPts val="10999"/>
              </a:lnSpc>
              <a:spcBef>
                <a:spcPct val="0"/>
              </a:spcBef>
            </a:pPr>
            <a:r>
              <a:rPr lang="en-US" sz="10999" spc="-329">
                <a:solidFill>
                  <a:srgbClr val="F7F5E6"/>
                </a:solidFill>
                <a:latin typeface="Lazydog"/>
                <a:ea typeface="Lazydog"/>
                <a:cs typeface="Lazydog"/>
                <a:sym typeface="Lazydog"/>
                <a:hlinkClick r:id="rId17" tooltip="https://duocuc-team-nylqnfbe.atlassian.net/jira/software/projects/AJ/boards/68?filter=&amp;groupBy=none&amp;atlOrigin=eyJpIjoiZmVhYWVhYTU4N2UyNDE0NGE1YmE0YTJmZDNiOTU0YTgiLCJwIjoiaiJ9"/>
              </a:rPr>
              <a:t>y su desglose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529695" y="6214160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9"/>
                </a:lnTo>
                <a:lnTo>
                  <a:pt x="0" y="137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215" y="9478517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97350" y="-2408244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5" y="0"/>
                </a:lnTo>
                <a:lnTo>
                  <a:pt x="3547365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529539" y="9478517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5" y="0"/>
                </a:lnTo>
                <a:lnTo>
                  <a:pt x="2551035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380537" y="2749217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964451" y="3496534"/>
            <a:ext cx="10359098" cy="199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79"/>
              </a:lnSpc>
              <a:spcBef>
                <a:spcPct val="0"/>
              </a:spcBef>
            </a:pPr>
            <a:r>
              <a:rPr lang="en-US" sz="14979" spc="-449">
                <a:solidFill>
                  <a:srgbClr val="F7F5E6"/>
                </a:solidFill>
                <a:latin typeface="Lazydog"/>
                <a:ea typeface="Lazydog"/>
                <a:cs typeface="Lazydog"/>
                <a:sym typeface="Lazydog"/>
              </a:rPr>
              <a:t>Conclusión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435790" y="5072658"/>
            <a:ext cx="9416420" cy="5214342"/>
          </a:xfrm>
          <a:custGeom>
            <a:avLst/>
            <a:gdLst/>
            <a:ahLst/>
            <a:cxnLst/>
            <a:rect r="r" b="b" t="t" l="l"/>
            <a:pathLst>
              <a:path h="5214342" w="9416420">
                <a:moveTo>
                  <a:pt x="0" y="0"/>
                </a:moveTo>
                <a:lnTo>
                  <a:pt x="9416420" y="0"/>
                </a:lnTo>
                <a:lnTo>
                  <a:pt x="9416420" y="5214342"/>
                </a:lnTo>
                <a:lnTo>
                  <a:pt x="0" y="521434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529695" y="6214160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9"/>
                </a:lnTo>
                <a:lnTo>
                  <a:pt x="0" y="137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215" y="9478517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97350" y="-2408244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5" y="0"/>
                </a:lnTo>
                <a:lnTo>
                  <a:pt x="3547365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529539" y="9478517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5" y="0"/>
                </a:lnTo>
                <a:lnTo>
                  <a:pt x="2551035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380537" y="2749217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755822" y="2381250"/>
            <a:ext cx="10776357" cy="581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999"/>
              </a:lnSpc>
              <a:spcBef>
                <a:spcPct val="0"/>
              </a:spcBef>
            </a:pPr>
            <a:r>
              <a:rPr lang="en-US" sz="14999" spc="-449">
                <a:solidFill>
                  <a:srgbClr val="F7F5E6"/>
                </a:solidFill>
                <a:latin typeface="Lazydog"/>
                <a:ea typeface="Lazydog"/>
                <a:cs typeface="Lazydog"/>
                <a:sym typeface="Lazydog"/>
              </a:rPr>
              <a:t>Gracias por su atención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882634">
            <a:off x="12113599" y="-32513"/>
            <a:ext cx="7757818" cy="5304408"/>
          </a:xfrm>
          <a:custGeom>
            <a:avLst/>
            <a:gdLst/>
            <a:ahLst/>
            <a:cxnLst/>
            <a:rect r="r" b="b" t="t" l="l"/>
            <a:pathLst>
              <a:path h="5304408" w="7757818">
                <a:moveTo>
                  <a:pt x="0" y="0"/>
                </a:moveTo>
                <a:lnTo>
                  <a:pt x="7757818" y="0"/>
                </a:lnTo>
                <a:lnTo>
                  <a:pt x="7757818" y="5304408"/>
                </a:lnTo>
                <a:lnTo>
                  <a:pt x="0" y="530440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52146" y="6210611"/>
            <a:ext cx="4076102" cy="3961778"/>
          </a:xfrm>
          <a:custGeom>
            <a:avLst/>
            <a:gdLst/>
            <a:ahLst/>
            <a:cxnLst/>
            <a:rect r="r" b="b" t="t" l="l"/>
            <a:pathLst>
              <a:path h="3961778" w="4076102">
                <a:moveTo>
                  <a:pt x="0" y="0"/>
                </a:moveTo>
                <a:lnTo>
                  <a:pt x="4076101" y="0"/>
                </a:lnTo>
                <a:lnTo>
                  <a:pt x="4076101" y="3961778"/>
                </a:lnTo>
                <a:lnTo>
                  <a:pt x="0" y="39617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DAHUhbCbglY</dc:identifier>
  <dcterms:modified xsi:type="dcterms:W3CDTF">2011-08-01T06:04:30Z</dcterms:modified>
  <cp:revision>1</cp:revision>
  <dc:title>Capstone</dc:title>
</cp:coreProperties>
</file>