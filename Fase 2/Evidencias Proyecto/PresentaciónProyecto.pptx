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azydog 1" charset="1" panose="00000000000000000000"/>
      <p:regular r:id="rId22"/>
    </p:embeddedFont>
    <p:embeddedFont>
      <p:font typeface="Inter 1 Bold" charset="1" panose="020B0802030000000004"/>
      <p:regular r:id="rId23"/>
    </p:embeddedFont>
    <p:embeddedFont>
      <p:font typeface="Lazydog 2" charset="1" panose="00000000000000000000"/>
      <p:regular r:id="rId24"/>
    </p:embeddedFont>
    <p:embeddedFont>
      <p:font typeface="Inter 2 Bold" charset="1" panose="02000503000000020004"/>
      <p:regular r:id="rId25"/>
    </p:embeddedFont>
    <p:embeddedFont>
      <p:font typeface="Cakerolli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33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16" Target="../media/image48.png" Type="http://schemas.openxmlformats.org/officeDocument/2006/relationships/image"/><Relationship Id="rId17" Target="../media/image49.png" Type="http://schemas.openxmlformats.org/officeDocument/2006/relationships/image"/><Relationship Id="rId18" Target="../media/image50.png" Type="http://schemas.openxmlformats.org/officeDocument/2006/relationships/image"/><Relationship Id="rId19" Target="../media/image51.png" Type="http://schemas.openxmlformats.org/officeDocument/2006/relationships/image"/><Relationship Id="rId2" Target="../media/image34.png" Type="http://schemas.openxmlformats.org/officeDocument/2006/relationships/image"/><Relationship Id="rId20" Target="../media/image52.png" Type="http://schemas.openxmlformats.org/officeDocument/2006/relationships/image"/><Relationship Id="rId21" Target="../media/image53.png" Type="http://schemas.openxmlformats.org/officeDocument/2006/relationships/image"/><Relationship Id="rId22" Target="../media/image54.png" Type="http://schemas.openxmlformats.org/officeDocument/2006/relationships/image"/><Relationship Id="rId23" Target="../media/image55.png" Type="http://schemas.openxmlformats.org/officeDocument/2006/relationships/image"/><Relationship Id="rId24" Target="../media/image56.png" Type="http://schemas.openxmlformats.org/officeDocument/2006/relationships/image"/><Relationship Id="rId25" Target="../media/image57.png" Type="http://schemas.openxmlformats.org/officeDocument/2006/relationships/image"/><Relationship Id="rId26" Target="../media/image58.png" Type="http://schemas.openxmlformats.org/officeDocument/2006/relationships/image"/><Relationship Id="rId27" Target="../media/image59.png" Type="http://schemas.openxmlformats.org/officeDocument/2006/relationships/image"/><Relationship Id="rId28" Target="../media/image60.png" Type="http://schemas.openxmlformats.org/officeDocument/2006/relationships/image"/><Relationship Id="rId29" Target="../media/image61.png" Type="http://schemas.openxmlformats.org/officeDocument/2006/relationships/image"/><Relationship Id="rId3" Target="../media/image35.png" Type="http://schemas.openxmlformats.org/officeDocument/2006/relationships/image"/><Relationship Id="rId30" Target="../media/image62.png" Type="http://schemas.openxmlformats.org/officeDocument/2006/relationships/image"/><Relationship Id="rId31" Target="../media/image63.png" Type="http://schemas.openxmlformats.org/officeDocument/2006/relationships/image"/><Relationship Id="rId32" Target="../media/image64.png" Type="http://schemas.openxmlformats.org/officeDocument/2006/relationships/image"/><Relationship Id="rId33" Target="../media/image65.png" Type="http://schemas.openxmlformats.org/officeDocument/2006/relationships/image"/><Relationship Id="rId34" Target="../media/image66.png" Type="http://schemas.openxmlformats.org/officeDocument/2006/relationships/image"/><Relationship Id="rId35" Target="../media/image67.png" Type="http://schemas.openxmlformats.org/officeDocument/2006/relationships/image"/><Relationship Id="rId36" Target="../media/image68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71.jpeg" Type="http://schemas.openxmlformats.org/officeDocument/2006/relationships/image"/><Relationship Id="rId12" Target="../media/image72.jpeg" Type="http://schemas.openxmlformats.org/officeDocument/2006/relationships/image"/><Relationship Id="rId13" Target="../media/image73.jpeg" Type="http://schemas.openxmlformats.org/officeDocument/2006/relationships/image"/><Relationship Id="rId14" Target="../media/image74.jpeg" Type="http://schemas.openxmlformats.org/officeDocument/2006/relationships/image"/><Relationship Id="rId15" Target="../media/image75.jpe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77.jpeg" Type="http://schemas.openxmlformats.org/officeDocument/2006/relationships/image"/><Relationship Id="rId13" Target="../media/image78.jpe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81.png" Type="http://schemas.openxmlformats.org/officeDocument/2006/relationships/image"/><Relationship Id="rId16" Target="../media/image82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83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84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2.png" Type="http://schemas.openxmlformats.org/officeDocument/2006/relationships/image"/><Relationship Id="rId4" Target="../media/image93.jpeg" Type="http://schemas.openxmlformats.org/officeDocument/2006/relationships/image"/><Relationship Id="rId5" Target="../media/VAHX2e3oias.mp4" Type="http://schemas.openxmlformats.org/officeDocument/2006/relationships/video"/><Relationship Id="rId6" Target="../media/VAHX2e3oias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81008" y="568547"/>
            <a:ext cx="4144334" cy="753515"/>
          </a:xfrm>
          <a:custGeom>
            <a:avLst/>
            <a:gdLst/>
            <a:ahLst/>
            <a:cxnLst/>
            <a:rect r="r" b="b" t="t" l="l"/>
            <a:pathLst>
              <a:path h="753515" w="4144334">
                <a:moveTo>
                  <a:pt x="0" y="0"/>
                </a:moveTo>
                <a:lnTo>
                  <a:pt x="4144333" y="0"/>
                </a:lnTo>
                <a:lnTo>
                  <a:pt x="4144333" y="753515"/>
                </a:lnTo>
                <a:lnTo>
                  <a:pt x="0" y="7535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6753" y="-2672866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568853" y="9750463"/>
            <a:ext cx="3883538" cy="706098"/>
          </a:xfrm>
          <a:custGeom>
            <a:avLst/>
            <a:gdLst/>
            <a:ahLst/>
            <a:cxnLst/>
            <a:rect r="r" b="b" t="t" l="l"/>
            <a:pathLst>
              <a:path h="706098" w="3883538">
                <a:moveTo>
                  <a:pt x="0" y="0"/>
                </a:moveTo>
                <a:lnTo>
                  <a:pt x="3883538" y="0"/>
                </a:lnTo>
                <a:lnTo>
                  <a:pt x="3883538" y="706098"/>
                </a:lnTo>
                <a:lnTo>
                  <a:pt x="0" y="7060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2632776" y="5358832"/>
            <a:ext cx="3566226" cy="3216087"/>
          </a:xfrm>
          <a:custGeom>
            <a:avLst/>
            <a:gdLst/>
            <a:ahLst/>
            <a:cxnLst/>
            <a:rect r="r" b="b" t="t" l="l"/>
            <a:pathLst>
              <a:path h="3216087" w="3566226">
                <a:moveTo>
                  <a:pt x="0" y="0"/>
                </a:moveTo>
                <a:lnTo>
                  <a:pt x="3566226" y="0"/>
                </a:lnTo>
                <a:lnTo>
                  <a:pt x="3566226" y="3216087"/>
                </a:lnTo>
                <a:lnTo>
                  <a:pt x="0" y="32160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743327" y="9794280"/>
            <a:ext cx="3883055" cy="1499830"/>
          </a:xfrm>
          <a:custGeom>
            <a:avLst/>
            <a:gdLst/>
            <a:ahLst/>
            <a:cxnLst/>
            <a:rect r="r" b="b" t="t" l="l"/>
            <a:pathLst>
              <a:path h="1499830" w="3883055">
                <a:moveTo>
                  <a:pt x="0" y="0"/>
                </a:moveTo>
                <a:lnTo>
                  <a:pt x="3883056" y="0"/>
                </a:lnTo>
                <a:lnTo>
                  <a:pt x="3883056" y="1499830"/>
                </a:lnTo>
                <a:lnTo>
                  <a:pt x="0" y="14998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40714" y="-1790751"/>
            <a:ext cx="3673297" cy="2751633"/>
          </a:xfrm>
          <a:custGeom>
            <a:avLst/>
            <a:gdLst/>
            <a:ahLst/>
            <a:cxnLst/>
            <a:rect r="r" b="b" t="t" l="l"/>
            <a:pathLst>
              <a:path h="2751633" w="3673297">
                <a:moveTo>
                  <a:pt x="0" y="0"/>
                </a:moveTo>
                <a:lnTo>
                  <a:pt x="3673297" y="0"/>
                </a:lnTo>
                <a:lnTo>
                  <a:pt x="3673297" y="2751634"/>
                </a:lnTo>
                <a:lnTo>
                  <a:pt x="0" y="275163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354550" y="1463911"/>
            <a:ext cx="5282798" cy="2910341"/>
          </a:xfrm>
          <a:custGeom>
            <a:avLst/>
            <a:gdLst/>
            <a:ahLst/>
            <a:cxnLst/>
            <a:rect r="r" b="b" t="t" l="l"/>
            <a:pathLst>
              <a:path h="2910341" w="5282798">
                <a:moveTo>
                  <a:pt x="0" y="0"/>
                </a:moveTo>
                <a:lnTo>
                  <a:pt x="5282798" y="0"/>
                </a:lnTo>
                <a:lnTo>
                  <a:pt x="5282798" y="2910342"/>
                </a:lnTo>
                <a:lnTo>
                  <a:pt x="0" y="291034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7425645" y="-2464352"/>
            <a:ext cx="2809872" cy="3585683"/>
          </a:xfrm>
          <a:custGeom>
            <a:avLst/>
            <a:gdLst/>
            <a:ahLst/>
            <a:cxnLst/>
            <a:rect r="r" b="b" t="t" l="l"/>
            <a:pathLst>
              <a:path h="3585683" w="2809872">
                <a:moveTo>
                  <a:pt x="0" y="0"/>
                </a:moveTo>
                <a:lnTo>
                  <a:pt x="2809872" y="0"/>
                </a:lnTo>
                <a:lnTo>
                  <a:pt x="2809872" y="3585683"/>
                </a:lnTo>
                <a:lnTo>
                  <a:pt x="0" y="358568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2232227" y="2799055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744738" y="1326427"/>
            <a:ext cx="1106678" cy="1418818"/>
          </a:xfrm>
          <a:custGeom>
            <a:avLst/>
            <a:gdLst/>
            <a:ahLst/>
            <a:cxnLst/>
            <a:rect r="r" b="b" t="t" l="l"/>
            <a:pathLst>
              <a:path h="1418818" w="1106678">
                <a:moveTo>
                  <a:pt x="0" y="0"/>
                </a:moveTo>
                <a:lnTo>
                  <a:pt x="1106678" y="0"/>
                </a:lnTo>
                <a:lnTo>
                  <a:pt x="1106678" y="1418818"/>
                </a:lnTo>
                <a:lnTo>
                  <a:pt x="0" y="141881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4014163" y="2412103"/>
            <a:ext cx="10259673" cy="196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sz="7499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Proyecto</a:t>
            </a:r>
          </a:p>
          <a:p>
            <a:pPr algn="ctr">
              <a:lnSpc>
                <a:spcPts val="7574"/>
              </a:lnSpc>
            </a:pPr>
            <a:r>
              <a:rPr lang="en-US" sz="7499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 "aprendo jugando"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227174" y="841633"/>
            <a:ext cx="5833652" cy="1608847"/>
          </a:xfrm>
          <a:custGeom>
            <a:avLst/>
            <a:gdLst/>
            <a:ahLst/>
            <a:cxnLst/>
            <a:rect r="r" b="b" t="t" l="l"/>
            <a:pathLst>
              <a:path h="1608847" w="5833652">
                <a:moveTo>
                  <a:pt x="0" y="0"/>
                </a:moveTo>
                <a:lnTo>
                  <a:pt x="5833652" y="0"/>
                </a:lnTo>
                <a:lnTo>
                  <a:pt x="5833652" y="1608847"/>
                </a:lnTo>
                <a:lnTo>
                  <a:pt x="0" y="160884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-9083" r="0" b="-7261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897487" y="4757855"/>
            <a:ext cx="8493026" cy="4720662"/>
            <a:chOff x="0" y="0"/>
            <a:chExt cx="11324034" cy="629421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3310434" y="1389217"/>
              <a:ext cx="4703167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Integrantes: 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Jonathan Araneda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Diego Martínez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Nicolás Valenzuela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994459"/>
              <a:ext cx="11324034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Duoc UC Sede San Bernardo ​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Escuela de Informática y Telecomunicaciones​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Carrera: Ingeniería en Informática​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Año: 2026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28218" y="-47625"/>
              <a:ext cx="5867598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Docente: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Elia</a:t>
              </a:r>
              <a:r>
                <a:rPr lang="en-US" b="true" sz="2500" spc="257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na Mallén González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80390" y="-2378190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178119" y="9227091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289811" y="6699403"/>
            <a:ext cx="13708378" cy="2558897"/>
            <a:chOff x="0" y="0"/>
            <a:chExt cx="18277837" cy="34118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5078991" y="605832"/>
              <a:ext cx="2343868" cy="983543"/>
              <a:chOff x="0" y="0"/>
              <a:chExt cx="462986" cy="1942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2986" cy="194280"/>
              </a:xfrm>
              <a:custGeom>
                <a:avLst/>
                <a:gdLst/>
                <a:ahLst/>
                <a:cxnLst/>
                <a:rect r="r" b="b" t="t" l="l"/>
                <a:pathLst>
                  <a:path h="194280" w="462986">
                    <a:moveTo>
                      <a:pt x="0" y="0"/>
                    </a:moveTo>
                    <a:lnTo>
                      <a:pt x="462986" y="0"/>
                    </a:lnTo>
                    <a:lnTo>
                      <a:pt x="462986" y="194280"/>
                    </a:lnTo>
                    <a:lnTo>
                      <a:pt x="0" y="194280"/>
                    </a:lnTo>
                    <a:close/>
                  </a:path>
                </a:pathLst>
              </a:custGeom>
              <a:solidFill>
                <a:srgbClr val="FAFBFC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62986" cy="23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04738" y="605832"/>
              <a:ext cx="2343868" cy="983543"/>
              <a:chOff x="0" y="0"/>
              <a:chExt cx="462986" cy="1942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2986" cy="194280"/>
              </a:xfrm>
              <a:custGeom>
                <a:avLst/>
                <a:gdLst/>
                <a:ahLst/>
                <a:cxnLst/>
                <a:rect r="r" b="b" t="t" l="l"/>
                <a:pathLst>
                  <a:path h="194280" w="462986">
                    <a:moveTo>
                      <a:pt x="0" y="0"/>
                    </a:moveTo>
                    <a:lnTo>
                      <a:pt x="462986" y="0"/>
                    </a:lnTo>
                    <a:lnTo>
                      <a:pt x="462986" y="194280"/>
                    </a:lnTo>
                    <a:lnTo>
                      <a:pt x="0" y="194280"/>
                    </a:lnTo>
                    <a:close/>
                  </a:path>
                </a:pathLst>
              </a:custGeom>
              <a:solidFill>
                <a:srgbClr val="FAFBFC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62986" cy="23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5501974" y="605832"/>
              <a:ext cx="2343868" cy="983543"/>
              <a:chOff x="0" y="0"/>
              <a:chExt cx="462986" cy="19428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2986" cy="194280"/>
              </a:xfrm>
              <a:custGeom>
                <a:avLst/>
                <a:gdLst/>
                <a:ahLst/>
                <a:cxnLst/>
                <a:rect r="r" b="b" t="t" l="l"/>
                <a:pathLst>
                  <a:path h="194280" w="462986">
                    <a:moveTo>
                      <a:pt x="0" y="0"/>
                    </a:moveTo>
                    <a:lnTo>
                      <a:pt x="462986" y="0"/>
                    </a:lnTo>
                    <a:lnTo>
                      <a:pt x="462986" y="194280"/>
                    </a:lnTo>
                    <a:lnTo>
                      <a:pt x="0" y="194280"/>
                    </a:lnTo>
                    <a:close/>
                  </a:path>
                </a:pathLst>
              </a:custGeom>
              <a:solidFill>
                <a:srgbClr val="FAFBFC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62986" cy="23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999211" y="605832"/>
              <a:ext cx="2751648" cy="983543"/>
              <a:chOff x="0" y="0"/>
              <a:chExt cx="543535" cy="1942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43535" cy="194280"/>
              </a:xfrm>
              <a:custGeom>
                <a:avLst/>
                <a:gdLst/>
                <a:ahLst/>
                <a:cxnLst/>
                <a:rect r="r" b="b" t="t" l="l"/>
                <a:pathLst>
                  <a:path h="194280" w="543535">
                    <a:moveTo>
                      <a:pt x="0" y="0"/>
                    </a:moveTo>
                    <a:lnTo>
                      <a:pt x="543535" y="0"/>
                    </a:lnTo>
                    <a:lnTo>
                      <a:pt x="543535" y="194280"/>
                    </a:lnTo>
                    <a:lnTo>
                      <a:pt x="0" y="194280"/>
                    </a:lnTo>
                    <a:close/>
                  </a:path>
                </a:pathLst>
              </a:custGeom>
              <a:solidFill>
                <a:srgbClr val="FAFBFC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43535" cy="23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77837" cy="3411863"/>
            </a:xfrm>
            <a:custGeom>
              <a:avLst/>
              <a:gdLst/>
              <a:ahLst/>
              <a:cxnLst/>
              <a:rect r="r" b="b" t="t" l="l"/>
              <a:pathLst>
                <a:path h="3411863" w="18277837">
                  <a:moveTo>
                    <a:pt x="0" y="0"/>
                  </a:moveTo>
                  <a:lnTo>
                    <a:pt x="18277837" y="0"/>
                  </a:lnTo>
                  <a:lnTo>
                    <a:pt x="18277837" y="3411863"/>
                  </a:lnTo>
                  <a:lnTo>
                    <a:pt x="0" y="3411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035495" y="1123950"/>
            <a:ext cx="10217010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Contexto del Problema y Justificación DisciplinaR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53510" y="2929967"/>
            <a:ext cx="14598685" cy="348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P</a:t>
            </a: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roblema: Brechas basales de lectoescritura y cálculo en infantes de 6 a 7 años, agravadas por software comercial que asume conectividad continua y lectura autónoma obligatoria.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Pertinencia laboral y perfil de egreso: Aplicación integrada de desarrollo móvil, modelamiento relacional y NoSQL, accesibilidad cognitiva y gestión ágil bajo restricciones de tiempo real.</a:t>
            </a: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Propuesta: App móvil gamificada, 100% offline y asistida íntegramente por síntesis de voz (TTS).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3292" y="457377"/>
            <a:ext cx="9389245" cy="78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8"/>
              </a:lnSpc>
            </a:pPr>
            <a:r>
              <a:rPr lang="en-US" sz="5868">
                <a:solidFill>
                  <a:srgbClr val="F6F6F6"/>
                </a:solidFill>
                <a:latin typeface="Lazydog 2"/>
                <a:ea typeface="Lazydog 2"/>
                <a:cs typeface="Lazydog 2"/>
                <a:sym typeface="Lazydog 2"/>
              </a:rPr>
              <a:t>OBJETIVOS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1066800"/>
            <a:ext cx="16773525" cy="3009900"/>
          </a:xfrm>
          <a:custGeom>
            <a:avLst/>
            <a:gdLst/>
            <a:ahLst/>
            <a:cxnLst/>
            <a:rect r="r" b="b" t="t" l="l"/>
            <a:pathLst>
              <a:path h="3009900" w="16773525">
                <a:moveTo>
                  <a:pt x="0" y="0"/>
                </a:moveTo>
                <a:lnTo>
                  <a:pt x="16773525" y="0"/>
                </a:lnTo>
                <a:lnTo>
                  <a:pt x="167735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2790" y="1396203"/>
            <a:ext cx="15308474" cy="233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true">
                <a:solidFill>
                  <a:srgbClr val="F6F6F6"/>
                </a:solidFill>
                <a:latin typeface="Inter 2 Bold"/>
                <a:ea typeface="Inter 2 Bold"/>
                <a:cs typeface="Inter 2 Bold"/>
                <a:sym typeface="Inter 2 Bold"/>
              </a:rPr>
              <a:t>Objetivo General: Desarrollar una aplicación móvil educativa gamificada para niños de 6 a 7 años que refuerce lectoescritura y cálculo inicial mediante interacción por voz, persistencia local y sincronización en la nube para monitoreo docente.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9550" y="4286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700" y="42862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1495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8625" y="209550"/>
            <a:ext cx="1752600" cy="647700"/>
          </a:xfrm>
          <a:custGeom>
            <a:avLst/>
            <a:gdLst/>
            <a:ahLst/>
            <a:cxnLst/>
            <a:rect r="r" b="b" t="t" l="l"/>
            <a:pathLst>
              <a:path h="647700" w="17526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64000" y="6381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30775" y="428625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630775" y="1714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3000375"/>
            <a:ext cx="657225" cy="1285875"/>
          </a:xfrm>
          <a:custGeom>
            <a:avLst/>
            <a:gdLst/>
            <a:ahLst/>
            <a:cxnLst/>
            <a:rect r="r" b="b" t="t" l="l"/>
            <a:pathLst>
              <a:path h="1285875" w="657225">
                <a:moveTo>
                  <a:pt x="0" y="0"/>
                </a:moveTo>
                <a:lnTo>
                  <a:pt x="657225" y="0"/>
                </a:lnTo>
                <a:lnTo>
                  <a:pt x="657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40671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6000750"/>
            <a:ext cx="657225" cy="1504950"/>
          </a:xfrm>
          <a:custGeom>
            <a:avLst/>
            <a:gdLst/>
            <a:ahLst/>
            <a:cxnLst/>
            <a:rect r="r" b="b" t="t" l="l"/>
            <a:pathLst>
              <a:path h="1504950" w="657225">
                <a:moveTo>
                  <a:pt x="0" y="0"/>
                </a:moveTo>
                <a:lnTo>
                  <a:pt x="657225" y="0"/>
                </a:lnTo>
                <a:lnTo>
                  <a:pt x="657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7067550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9550" y="921067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9550" y="96393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630775" y="36385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849850" y="42862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630775" y="66389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630775" y="7286625"/>
            <a:ext cx="657225" cy="1504950"/>
          </a:xfrm>
          <a:custGeom>
            <a:avLst/>
            <a:gdLst/>
            <a:ahLst/>
            <a:cxnLst/>
            <a:rect r="r" b="b" t="t" l="l"/>
            <a:pathLst>
              <a:path h="1504950" w="657225">
                <a:moveTo>
                  <a:pt x="0" y="0"/>
                </a:moveTo>
                <a:lnTo>
                  <a:pt x="657225" y="0"/>
                </a:lnTo>
                <a:lnTo>
                  <a:pt x="6572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630775" y="9210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85850" y="4067175"/>
            <a:ext cx="2838450" cy="5791200"/>
          </a:xfrm>
          <a:custGeom>
            <a:avLst/>
            <a:gdLst/>
            <a:ahLst/>
            <a:cxnLst/>
            <a:rect r="r" b="b" t="t" l="l"/>
            <a:pathLst>
              <a:path h="5791200" w="2838450">
                <a:moveTo>
                  <a:pt x="0" y="0"/>
                </a:moveTo>
                <a:lnTo>
                  <a:pt x="2838450" y="0"/>
                </a:lnTo>
                <a:lnTo>
                  <a:pt x="28384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52625" y="4286250"/>
            <a:ext cx="1095375" cy="1504950"/>
          </a:xfrm>
          <a:custGeom>
            <a:avLst/>
            <a:gdLst/>
            <a:ahLst/>
            <a:cxnLst/>
            <a:rect r="r" b="b" t="t" l="l"/>
            <a:pathLst>
              <a:path h="1504950" w="1095375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3108" y="5657905"/>
            <a:ext cx="2508154" cy="383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3"/>
              </a:lnSpc>
            </a:pPr>
            <a:r>
              <a:rPr lang="en-US" b="true" sz="3304" spc="-98">
                <a:solidFill>
                  <a:srgbClr val="171717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1. Diseñar interfaz UI/UX accesible con 0% de texto funcional y apoyo Text-To-Speech (TTS).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695700" y="6858000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352925" y="4067175"/>
            <a:ext cx="3057525" cy="5791200"/>
          </a:xfrm>
          <a:custGeom>
            <a:avLst/>
            <a:gdLst/>
            <a:ahLst/>
            <a:cxnLst/>
            <a:rect r="r" b="b" t="t" l="l"/>
            <a:pathLst>
              <a:path h="5791200" w="3057525">
                <a:moveTo>
                  <a:pt x="0" y="0"/>
                </a:moveTo>
                <a:lnTo>
                  <a:pt x="3057525" y="0"/>
                </a:lnTo>
                <a:lnTo>
                  <a:pt x="3057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219700" y="449580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500186" y="6091254"/>
            <a:ext cx="2758419" cy="25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b="true" sz="2553" spc="-76">
                <a:solidFill>
                  <a:srgbClr val="171717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2. Implementar módulos pedagógicos de Lenguaje (fonemas/grafemas) y Matemáticas (conte/operaciones).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181850" y="6858000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29550" y="4067175"/>
            <a:ext cx="3057525" cy="5791200"/>
          </a:xfrm>
          <a:custGeom>
            <a:avLst/>
            <a:gdLst/>
            <a:ahLst/>
            <a:cxnLst/>
            <a:rect r="r" b="b" t="t" l="l"/>
            <a:pathLst>
              <a:path h="5791200" w="3057525">
                <a:moveTo>
                  <a:pt x="0" y="0"/>
                </a:moveTo>
                <a:lnTo>
                  <a:pt x="3057525" y="0"/>
                </a:lnTo>
                <a:lnTo>
                  <a:pt x="3057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05850" y="428625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955930" y="5730749"/>
            <a:ext cx="2758508" cy="32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b="true" sz="3164" spc="-94">
                <a:solidFill>
                  <a:srgbClr val="171717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3. Estructurar almacenamiento híbrido SQLite + Firebase Firestore con tolerancia total a desconexión.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0668000" y="6858000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315700" y="4067175"/>
            <a:ext cx="3057525" cy="5791200"/>
          </a:xfrm>
          <a:custGeom>
            <a:avLst/>
            <a:gdLst/>
            <a:ahLst/>
            <a:cxnLst/>
            <a:rect r="r" b="b" t="t" l="l"/>
            <a:pathLst>
              <a:path h="5791200" w="3057525">
                <a:moveTo>
                  <a:pt x="0" y="0"/>
                </a:moveTo>
                <a:lnTo>
                  <a:pt x="3057525" y="0"/>
                </a:lnTo>
                <a:lnTo>
                  <a:pt x="3057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92000" y="44958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462040" y="5720586"/>
            <a:ext cx="2604290" cy="338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3"/>
              </a:lnSpc>
            </a:pPr>
            <a:r>
              <a:rPr lang="en-US" b="true" sz="3304" spc="-98">
                <a:solidFill>
                  <a:srgbClr val="171717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4. Proveer un panel docente para seguimiento y métricas de aprendizaje en tiempo real.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4144625" y="6858000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582775" y="4067175"/>
            <a:ext cx="3057525" cy="5791200"/>
          </a:xfrm>
          <a:custGeom>
            <a:avLst/>
            <a:gdLst/>
            <a:ahLst/>
            <a:cxnLst/>
            <a:rect r="r" b="b" t="t" l="l"/>
            <a:pathLst>
              <a:path h="5791200" w="3057525">
                <a:moveTo>
                  <a:pt x="0" y="0"/>
                </a:moveTo>
                <a:lnTo>
                  <a:pt x="3057525" y="0"/>
                </a:lnTo>
                <a:lnTo>
                  <a:pt x="30575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449550" y="449580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5016771" y="5943829"/>
            <a:ext cx="2334075" cy="338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3"/>
              </a:lnSpc>
            </a:pPr>
            <a:r>
              <a:rPr lang="en-US" b="true" sz="3304" spc="-98">
                <a:solidFill>
                  <a:srgbClr val="171717"/>
                </a:solidFill>
                <a:latin typeface="Cakerolli Bold"/>
                <a:ea typeface="Cakerolli Bold"/>
                <a:cs typeface="Cakerolli Bold"/>
                <a:sym typeface="Cakerolli Bold"/>
              </a:rPr>
              <a:t>5. Validar pertinencia y usabilidad con usuarios infantiles y el equipo de IPEI.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1315700" y="9858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27921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3" y="0"/>
                </a:lnTo>
                <a:lnTo>
                  <a:pt x="3185853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918002" y="-1599539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2390833" y="2107430"/>
            <a:ext cx="13506333" cy="7535408"/>
            <a:chOff x="0" y="0"/>
            <a:chExt cx="18008444" cy="1004721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644047" y="3936679"/>
              <a:ext cx="2851943" cy="2110154"/>
              <a:chOff x="0" y="0"/>
              <a:chExt cx="571774" cy="42305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71774" cy="423056"/>
              </a:xfrm>
              <a:custGeom>
                <a:avLst/>
                <a:gdLst/>
                <a:ahLst/>
                <a:cxnLst/>
                <a:rect r="r" b="b" t="t" l="l"/>
                <a:pathLst>
                  <a:path h="423056" w="571774">
                    <a:moveTo>
                      <a:pt x="0" y="0"/>
                    </a:moveTo>
                    <a:lnTo>
                      <a:pt x="571774" y="0"/>
                    </a:lnTo>
                    <a:lnTo>
                      <a:pt x="571774" y="423056"/>
                    </a:lnTo>
                    <a:lnTo>
                      <a:pt x="0" y="423056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71774" cy="461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8594668" y="5543725"/>
              <a:ext cx="8172361" cy="503108"/>
              <a:chOff x="0" y="0"/>
              <a:chExt cx="1638442" cy="1008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38442" cy="100866"/>
              </a:xfrm>
              <a:custGeom>
                <a:avLst/>
                <a:gdLst/>
                <a:ahLst/>
                <a:cxnLst/>
                <a:rect r="r" b="b" t="t" l="l"/>
                <a:pathLst>
                  <a:path h="100866" w="1638442">
                    <a:moveTo>
                      <a:pt x="0" y="0"/>
                    </a:moveTo>
                    <a:lnTo>
                      <a:pt x="1638442" y="0"/>
                    </a:lnTo>
                    <a:lnTo>
                      <a:pt x="1638442" y="100866"/>
                    </a:lnTo>
                    <a:lnTo>
                      <a:pt x="0" y="100866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638442" cy="138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775044" y="5948260"/>
              <a:ext cx="2672891" cy="942487"/>
              <a:chOff x="0" y="0"/>
              <a:chExt cx="535877" cy="1889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35877" cy="188955"/>
              </a:xfrm>
              <a:custGeom>
                <a:avLst/>
                <a:gdLst/>
                <a:ahLst/>
                <a:cxnLst/>
                <a:rect r="r" b="b" t="t" l="l"/>
                <a:pathLst>
                  <a:path h="188955" w="535877">
                    <a:moveTo>
                      <a:pt x="0" y="0"/>
                    </a:moveTo>
                    <a:lnTo>
                      <a:pt x="535877" y="0"/>
                    </a:lnTo>
                    <a:lnTo>
                      <a:pt x="535877" y="188955"/>
                    </a:lnTo>
                    <a:lnTo>
                      <a:pt x="0" y="188955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35877" cy="2270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4775044" y="2140766"/>
              <a:ext cx="3516995" cy="1479645"/>
              <a:chOff x="0" y="0"/>
              <a:chExt cx="705108" cy="29664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05108" cy="296648"/>
              </a:xfrm>
              <a:custGeom>
                <a:avLst/>
                <a:gdLst/>
                <a:ahLst/>
                <a:cxnLst/>
                <a:rect r="r" b="b" t="t" l="l"/>
                <a:pathLst>
                  <a:path h="296648" w="705108">
                    <a:moveTo>
                      <a:pt x="0" y="0"/>
                    </a:moveTo>
                    <a:lnTo>
                      <a:pt x="705108" y="0"/>
                    </a:lnTo>
                    <a:lnTo>
                      <a:pt x="705108" y="296648"/>
                    </a:lnTo>
                    <a:lnTo>
                      <a:pt x="0" y="296648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05108" cy="334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281208" y="4296030"/>
              <a:ext cx="7595511" cy="809747"/>
              <a:chOff x="0" y="0"/>
              <a:chExt cx="1522792" cy="16234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22792" cy="162343"/>
              </a:xfrm>
              <a:custGeom>
                <a:avLst/>
                <a:gdLst/>
                <a:ahLst/>
                <a:cxnLst/>
                <a:rect r="r" b="b" t="t" l="l"/>
                <a:pathLst>
                  <a:path h="162343" w="1522792">
                    <a:moveTo>
                      <a:pt x="0" y="0"/>
                    </a:moveTo>
                    <a:lnTo>
                      <a:pt x="1522792" y="0"/>
                    </a:lnTo>
                    <a:lnTo>
                      <a:pt x="1522792" y="162343"/>
                    </a:lnTo>
                    <a:lnTo>
                      <a:pt x="0" y="162343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522792" cy="2004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281208" y="3126932"/>
              <a:ext cx="7595511" cy="809747"/>
              <a:chOff x="0" y="0"/>
              <a:chExt cx="1522792" cy="16234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22792" cy="162343"/>
              </a:xfrm>
              <a:custGeom>
                <a:avLst/>
                <a:gdLst/>
                <a:ahLst/>
                <a:cxnLst/>
                <a:rect r="r" b="b" t="t" l="l"/>
                <a:pathLst>
                  <a:path h="162343" w="1522792">
                    <a:moveTo>
                      <a:pt x="0" y="0"/>
                    </a:moveTo>
                    <a:lnTo>
                      <a:pt x="1522792" y="0"/>
                    </a:lnTo>
                    <a:lnTo>
                      <a:pt x="1522792" y="162343"/>
                    </a:lnTo>
                    <a:lnTo>
                      <a:pt x="0" y="162343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522792" cy="2004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281208" y="1957834"/>
              <a:ext cx="7595511" cy="806226"/>
              <a:chOff x="0" y="0"/>
              <a:chExt cx="1522792" cy="16163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22792" cy="161637"/>
              </a:xfrm>
              <a:custGeom>
                <a:avLst/>
                <a:gdLst/>
                <a:ahLst/>
                <a:cxnLst/>
                <a:rect r="r" b="b" t="t" l="l"/>
                <a:pathLst>
                  <a:path h="161637" w="1522792">
                    <a:moveTo>
                      <a:pt x="0" y="0"/>
                    </a:moveTo>
                    <a:lnTo>
                      <a:pt x="1522792" y="0"/>
                    </a:lnTo>
                    <a:lnTo>
                      <a:pt x="1522792" y="161637"/>
                    </a:lnTo>
                    <a:lnTo>
                      <a:pt x="0" y="161637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522792" cy="1997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281208" y="710139"/>
              <a:ext cx="7595511" cy="884824"/>
              <a:chOff x="0" y="0"/>
              <a:chExt cx="1522792" cy="1773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22792" cy="177395"/>
              </a:xfrm>
              <a:custGeom>
                <a:avLst/>
                <a:gdLst/>
                <a:ahLst/>
                <a:cxnLst/>
                <a:rect r="r" b="b" t="t" l="l"/>
                <a:pathLst>
                  <a:path h="177395" w="1522792">
                    <a:moveTo>
                      <a:pt x="0" y="0"/>
                    </a:moveTo>
                    <a:lnTo>
                      <a:pt x="1522792" y="0"/>
                    </a:lnTo>
                    <a:lnTo>
                      <a:pt x="1522792" y="177395"/>
                    </a:lnTo>
                    <a:lnTo>
                      <a:pt x="0" y="177395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522792" cy="2154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8594668" y="6485719"/>
              <a:ext cx="8172361" cy="810055"/>
              <a:chOff x="0" y="0"/>
              <a:chExt cx="1638442" cy="16240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38442" cy="162405"/>
              </a:xfrm>
              <a:custGeom>
                <a:avLst/>
                <a:gdLst/>
                <a:ahLst/>
                <a:cxnLst/>
                <a:rect r="r" b="b" t="t" l="l"/>
                <a:pathLst>
                  <a:path h="162405" w="1638442">
                    <a:moveTo>
                      <a:pt x="0" y="0"/>
                    </a:moveTo>
                    <a:lnTo>
                      <a:pt x="1638442" y="0"/>
                    </a:lnTo>
                    <a:lnTo>
                      <a:pt x="1638442" y="162405"/>
                    </a:lnTo>
                    <a:lnTo>
                      <a:pt x="0" y="162405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638442" cy="2005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775044" y="7745928"/>
              <a:ext cx="11991984" cy="559193"/>
              <a:chOff x="0" y="0"/>
              <a:chExt cx="2404222" cy="11211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404222" cy="112110"/>
              </a:xfrm>
              <a:custGeom>
                <a:avLst/>
                <a:gdLst/>
                <a:ahLst/>
                <a:cxnLst/>
                <a:rect r="r" b="b" t="t" l="l"/>
                <a:pathLst>
                  <a:path h="112110" w="2404222">
                    <a:moveTo>
                      <a:pt x="0" y="0"/>
                    </a:moveTo>
                    <a:lnTo>
                      <a:pt x="2404222" y="0"/>
                    </a:lnTo>
                    <a:lnTo>
                      <a:pt x="2404222" y="112110"/>
                    </a:lnTo>
                    <a:lnTo>
                      <a:pt x="0" y="112110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404222" cy="1502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775044" y="8755583"/>
              <a:ext cx="11991984" cy="656072"/>
              <a:chOff x="0" y="0"/>
              <a:chExt cx="2404222" cy="13153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404222" cy="131533"/>
              </a:xfrm>
              <a:custGeom>
                <a:avLst/>
                <a:gdLst/>
                <a:ahLst/>
                <a:cxnLst/>
                <a:rect r="r" b="b" t="t" l="l"/>
                <a:pathLst>
                  <a:path h="131533" w="2404222">
                    <a:moveTo>
                      <a:pt x="0" y="0"/>
                    </a:moveTo>
                    <a:lnTo>
                      <a:pt x="2404222" y="0"/>
                    </a:lnTo>
                    <a:lnTo>
                      <a:pt x="2404222" y="131533"/>
                    </a:lnTo>
                    <a:lnTo>
                      <a:pt x="0" y="131533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404222" cy="169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8594668" y="6485719"/>
              <a:ext cx="8172361" cy="809747"/>
              <a:chOff x="0" y="0"/>
              <a:chExt cx="1638442" cy="16234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638442" cy="162343"/>
              </a:xfrm>
              <a:custGeom>
                <a:avLst/>
                <a:gdLst/>
                <a:ahLst/>
                <a:cxnLst/>
                <a:rect r="r" b="b" t="t" l="l"/>
                <a:pathLst>
                  <a:path h="162343" w="1638442">
                    <a:moveTo>
                      <a:pt x="0" y="0"/>
                    </a:moveTo>
                    <a:lnTo>
                      <a:pt x="1638442" y="0"/>
                    </a:lnTo>
                    <a:lnTo>
                      <a:pt x="1638442" y="162343"/>
                    </a:lnTo>
                    <a:lnTo>
                      <a:pt x="0" y="162343"/>
                    </a:lnTo>
                    <a:close/>
                  </a:path>
                </a:pathLst>
              </a:custGeom>
              <a:solidFill>
                <a:srgbClr val="FBF5FC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638442" cy="2004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444" cy="10047211"/>
            </a:xfrm>
            <a:custGeom>
              <a:avLst/>
              <a:gdLst/>
              <a:ahLst/>
              <a:cxnLst/>
              <a:rect r="r" b="b" t="t" l="l"/>
              <a:pathLst>
                <a:path h="10047211" w="18008444">
                  <a:moveTo>
                    <a:pt x="0" y="0"/>
                  </a:moveTo>
                  <a:lnTo>
                    <a:pt x="18008444" y="0"/>
                  </a:lnTo>
                  <a:lnTo>
                    <a:pt x="18008444" y="10047211"/>
                  </a:lnTo>
                  <a:lnTo>
                    <a:pt x="0" y="1004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9050" y="7233039"/>
            <a:ext cx="3510932" cy="3082536"/>
          </a:xfrm>
          <a:custGeom>
            <a:avLst/>
            <a:gdLst/>
            <a:ahLst/>
            <a:cxnLst/>
            <a:rect r="r" b="b" t="t" l="l"/>
            <a:pathLst>
              <a:path h="3082536" w="3510932">
                <a:moveTo>
                  <a:pt x="0" y="0"/>
                </a:moveTo>
                <a:lnTo>
                  <a:pt x="3510932" y="0"/>
                </a:lnTo>
                <a:lnTo>
                  <a:pt x="3510932" y="3082536"/>
                </a:lnTo>
                <a:lnTo>
                  <a:pt x="0" y="30825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2829" r="-345083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3998582" y="629150"/>
            <a:ext cx="10290836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Estado de Implementación al Cierre de la Fase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3506" y="9604230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75612" y="-2818078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178119" y="10185369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521203" y="1702239"/>
            <a:ext cx="17245595" cy="8096440"/>
            <a:chOff x="0" y="0"/>
            <a:chExt cx="22994126" cy="107952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879407" y="0"/>
              <a:ext cx="3445780" cy="6939535"/>
            </a:xfrm>
            <a:custGeom>
              <a:avLst/>
              <a:gdLst/>
              <a:ahLst/>
              <a:cxnLst/>
              <a:rect r="r" b="b" t="t" l="l"/>
              <a:pathLst>
                <a:path h="6939535" w="3445780">
                  <a:moveTo>
                    <a:pt x="0" y="0"/>
                  </a:moveTo>
                  <a:lnTo>
                    <a:pt x="3445780" y="0"/>
                  </a:lnTo>
                  <a:lnTo>
                    <a:pt x="3445780" y="6939535"/>
                  </a:lnTo>
                  <a:lnTo>
                    <a:pt x="0" y="6939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211" r="0" b="-6354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527206" y="13607"/>
              <a:ext cx="3466920" cy="6925928"/>
            </a:xfrm>
            <a:custGeom>
              <a:avLst/>
              <a:gdLst/>
              <a:ahLst/>
              <a:cxnLst/>
              <a:rect r="r" b="b" t="t" l="l"/>
              <a:pathLst>
                <a:path h="6925928" w="3466920">
                  <a:moveTo>
                    <a:pt x="0" y="0"/>
                  </a:moveTo>
                  <a:lnTo>
                    <a:pt x="3466920" y="0"/>
                  </a:lnTo>
                  <a:lnTo>
                    <a:pt x="3466920" y="6925928"/>
                  </a:lnTo>
                  <a:lnTo>
                    <a:pt x="0" y="6925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121" r="0" b="-73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898287" y="6930917"/>
              <a:ext cx="5076959" cy="3319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Dinámica Interactiva: Preguntas con alternativas tácti</a:t>
              </a:r>
              <a:r>
                <a:rPr lang="en-US" b="true" sz="24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les grandes, recordatorios visuales y refuerzo positivo inmediato.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516000" y="0"/>
              <a:ext cx="3448305" cy="6939535"/>
            </a:xfrm>
            <a:custGeom>
              <a:avLst/>
              <a:gdLst/>
              <a:ahLst/>
              <a:cxnLst/>
              <a:rect r="r" b="b" t="t" l="l"/>
              <a:pathLst>
                <a:path h="6939535" w="3448305">
                  <a:moveTo>
                    <a:pt x="0" y="0"/>
                  </a:moveTo>
                  <a:lnTo>
                    <a:pt x="3448306" y="0"/>
                  </a:lnTo>
                  <a:lnTo>
                    <a:pt x="3448306" y="6939535"/>
                  </a:lnTo>
                  <a:lnTo>
                    <a:pt x="0" y="6939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5323" r="0" b="-53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6917310"/>
              <a:ext cx="4480306" cy="3319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Menú Central y </a:t>
              </a:r>
              <a:r>
                <a:rPr lang="en-US" b="true" sz="24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Accesibilidad: Pantalla de bienvenida con navegación asistida hacia los 3 ejes centrales.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6026134" y="0"/>
              <a:ext cx="3447570" cy="6925928"/>
            </a:xfrm>
            <a:custGeom>
              <a:avLst/>
              <a:gdLst/>
              <a:ahLst/>
              <a:cxnLst/>
              <a:rect r="r" b="b" t="t" l="l"/>
              <a:pathLst>
                <a:path h="6925928" w="3447570">
                  <a:moveTo>
                    <a:pt x="0" y="0"/>
                  </a:moveTo>
                  <a:lnTo>
                    <a:pt x="3447570" y="0"/>
                  </a:lnTo>
                  <a:lnTo>
                    <a:pt x="3447570" y="6925928"/>
                  </a:lnTo>
                  <a:lnTo>
                    <a:pt x="0" y="6925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347" r="0" b="-64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359863" y="6917310"/>
              <a:ext cx="4780111" cy="3877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Módulo Lenguaje: Nav</a:t>
              </a:r>
              <a:r>
                <a:rPr lang="en-US" b="true" sz="24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egación por unidades curriculares (Detectives de sonidos, Comprensión, Vocabulario, Adivinanzas).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1275672" y="0"/>
              <a:ext cx="3468038" cy="6939535"/>
            </a:xfrm>
            <a:custGeom>
              <a:avLst/>
              <a:gdLst/>
              <a:ahLst/>
              <a:cxnLst/>
              <a:rect r="r" b="b" t="t" l="l"/>
              <a:pathLst>
                <a:path h="6939535" w="3468038">
                  <a:moveTo>
                    <a:pt x="0" y="0"/>
                  </a:moveTo>
                  <a:lnTo>
                    <a:pt x="3468038" y="0"/>
                  </a:lnTo>
                  <a:lnTo>
                    <a:pt x="3468038" y="6939535"/>
                  </a:lnTo>
                  <a:lnTo>
                    <a:pt x="0" y="6939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301" r="0" b="-69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1016275" y="6917310"/>
              <a:ext cx="3986832" cy="3877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true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Módulo Matemáticas: S</a:t>
              </a:r>
              <a:r>
                <a:rPr lang="en-US" b="true" sz="24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elección de ejes (Operatoria, Geometría, Patrones, Tamaños, Dibujo).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05053" y="628650"/>
            <a:ext cx="13477894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Evidencias de Módulos Operativos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74626" y="9580148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485618" y="-1994870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70924" y="2609448"/>
            <a:ext cx="16346153" cy="6648852"/>
            <a:chOff x="0" y="0"/>
            <a:chExt cx="21794870" cy="88651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63888" cy="8865135"/>
            </a:xfrm>
            <a:custGeom>
              <a:avLst/>
              <a:gdLst/>
              <a:ahLst/>
              <a:cxnLst/>
              <a:rect r="r" b="b" t="t" l="l"/>
              <a:pathLst>
                <a:path h="8865135" w="9563888">
                  <a:moveTo>
                    <a:pt x="0" y="0"/>
                  </a:moveTo>
                  <a:lnTo>
                    <a:pt x="9563888" y="0"/>
                  </a:lnTo>
                  <a:lnTo>
                    <a:pt x="9563888" y="8865135"/>
                  </a:lnTo>
                  <a:lnTo>
                    <a:pt x="0" y="8865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3852" t="-66504" r="-159854" b="-298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563888" y="931586"/>
              <a:ext cx="12230982" cy="6963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565" indent="-269782" lvl="1">
                <a:lnSpc>
                  <a:spcPts val="3498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Lienzo Vectorial: Implementación con CustomPainter permitiendo dibujo libre a 60 FPS sin retraso táctil.</a:t>
              </a:r>
            </a:p>
            <a:p>
              <a:pPr algn="just" marL="539565" indent="-269782" lvl="1">
                <a:lnSpc>
                  <a:spcPts val="3498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Herramientas de Edición: </a:t>
              </a: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Ajuste de grosor de trazo, borrador, paleta cromática rápida y selector de color personalizado.</a:t>
              </a:r>
            </a:p>
            <a:p>
              <a:pPr algn="just" marL="539565" indent="-269782" lvl="1">
                <a:lnSpc>
                  <a:spcPts val="3498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Exportación y Almacenamiento: Captura de lienzo a PNG mediante RepaintBoundary y guardado directo en galería.</a:t>
              </a:r>
            </a:p>
            <a:p>
              <a:pPr algn="just" marL="539565" indent="-269782" lvl="1">
                <a:lnSpc>
                  <a:spcPts val="3498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Hallazgo de Usabilidad: Los niños reportaron incomodidad al trazar detalles finos con el dedo en pantallas pequeñas, validándose la recomendación técnica de lápices táctiles para pantallas capacitivas.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367164">
            <a:off x="15752703" y="9369217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2079" y="2758045"/>
            <a:ext cx="2174266" cy="4592631"/>
          </a:xfrm>
          <a:custGeom>
            <a:avLst/>
            <a:gdLst/>
            <a:ahLst/>
            <a:cxnLst/>
            <a:rect r="r" b="b" t="t" l="l"/>
            <a:pathLst>
              <a:path h="4592631" w="2174266">
                <a:moveTo>
                  <a:pt x="0" y="0"/>
                </a:moveTo>
                <a:lnTo>
                  <a:pt x="2174266" y="0"/>
                </a:lnTo>
                <a:lnTo>
                  <a:pt x="2174266" y="4592631"/>
                </a:lnTo>
                <a:lnTo>
                  <a:pt x="0" y="4592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556" r="0" b="-64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648" y="2758045"/>
            <a:ext cx="2135978" cy="4592631"/>
          </a:xfrm>
          <a:custGeom>
            <a:avLst/>
            <a:gdLst/>
            <a:ahLst/>
            <a:cxnLst/>
            <a:rect r="r" b="b" t="t" l="l"/>
            <a:pathLst>
              <a:path h="4592631" w="2135978">
                <a:moveTo>
                  <a:pt x="0" y="0"/>
                </a:moveTo>
                <a:lnTo>
                  <a:pt x="2135977" y="0"/>
                </a:lnTo>
                <a:lnTo>
                  <a:pt x="2135977" y="4592631"/>
                </a:lnTo>
                <a:lnTo>
                  <a:pt x="0" y="45926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352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94850" y="876950"/>
            <a:ext cx="9298300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Módulo Pizarra Mágica y Grafomotricidad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809609">
            <a:off x="15722943" y="-164646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8"/>
                </a:lnTo>
                <a:lnTo>
                  <a:pt x="0" y="137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0278" y="9815161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3" y="0"/>
                </a:lnTo>
                <a:lnTo>
                  <a:pt x="5149253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72916" y="-2628579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4" y="0"/>
                </a:lnTo>
                <a:lnTo>
                  <a:pt x="3547364" y="3199077"/>
                </a:lnTo>
                <a:lnTo>
                  <a:pt x="0" y="31990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67607" y="9454435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697781" y="4623015"/>
            <a:ext cx="16892438" cy="3790220"/>
            <a:chOff x="0" y="0"/>
            <a:chExt cx="22523251" cy="5053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51940" cy="5052204"/>
            </a:xfrm>
            <a:custGeom>
              <a:avLst/>
              <a:gdLst/>
              <a:ahLst/>
              <a:cxnLst/>
              <a:rect r="r" b="b" t="t" l="l"/>
              <a:pathLst>
                <a:path h="5052204" w="11251940">
                  <a:moveTo>
                    <a:pt x="0" y="0"/>
                  </a:moveTo>
                  <a:lnTo>
                    <a:pt x="11251940" y="0"/>
                  </a:lnTo>
                  <a:lnTo>
                    <a:pt x="11251940" y="5052204"/>
                  </a:lnTo>
                  <a:lnTo>
                    <a:pt x="0" y="5052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0910" t="-41091" r="-60465" b="-123582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51940" y="0"/>
              <a:ext cx="11271311" cy="5053627"/>
            </a:xfrm>
            <a:custGeom>
              <a:avLst/>
              <a:gdLst/>
              <a:ahLst/>
              <a:cxnLst/>
              <a:rect r="r" b="b" t="t" l="l"/>
              <a:pathLst>
                <a:path h="5053627" w="11271311">
                  <a:moveTo>
                    <a:pt x="0" y="0"/>
                  </a:moveTo>
                  <a:lnTo>
                    <a:pt x="11271311" y="0"/>
                  </a:lnTo>
                  <a:lnTo>
                    <a:pt x="11271311" y="5053627"/>
                  </a:lnTo>
                  <a:lnTo>
                    <a:pt x="0" y="5053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3700" t="-149024" r="-70054" b="-3155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8323" y="3050224"/>
            <a:ext cx="15531353" cy="1468016"/>
            <a:chOff x="0" y="0"/>
            <a:chExt cx="20708471" cy="19573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147114" y="0"/>
              <a:ext cx="2561357" cy="1957355"/>
            </a:xfrm>
            <a:custGeom>
              <a:avLst/>
              <a:gdLst/>
              <a:ahLst/>
              <a:cxnLst/>
              <a:rect r="r" b="b" t="t" l="l"/>
              <a:pathLst>
                <a:path h="1957355" w="2561357">
                  <a:moveTo>
                    <a:pt x="0" y="0"/>
                  </a:moveTo>
                  <a:lnTo>
                    <a:pt x="2561357" y="0"/>
                  </a:lnTo>
                  <a:lnTo>
                    <a:pt x="2561357" y="1957355"/>
                  </a:lnTo>
                  <a:lnTo>
                    <a:pt x="0" y="1957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08593" t="-269756" r="-31003" b="-4043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504102" y="304769"/>
              <a:ext cx="2500012" cy="1347816"/>
            </a:xfrm>
            <a:custGeom>
              <a:avLst/>
              <a:gdLst/>
              <a:ahLst/>
              <a:cxnLst/>
              <a:rect r="r" b="b" t="t" l="l"/>
              <a:pathLst>
                <a:path h="1347816" w="2500012">
                  <a:moveTo>
                    <a:pt x="0" y="0"/>
                  </a:moveTo>
                  <a:lnTo>
                    <a:pt x="2500012" y="0"/>
                  </a:lnTo>
                  <a:lnTo>
                    <a:pt x="2500012" y="1347816"/>
                  </a:lnTo>
                  <a:lnTo>
                    <a:pt x="0" y="1347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507636" t="-391751" r="-150108" b="-103944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190033" y="192215"/>
              <a:ext cx="2177094" cy="1572924"/>
            </a:xfrm>
            <a:custGeom>
              <a:avLst/>
              <a:gdLst/>
              <a:ahLst/>
              <a:cxnLst/>
              <a:rect r="r" b="b" t="t" l="l"/>
              <a:pathLst>
                <a:path h="1572924" w="2177094">
                  <a:moveTo>
                    <a:pt x="0" y="0"/>
                  </a:moveTo>
                  <a:lnTo>
                    <a:pt x="2177094" y="0"/>
                  </a:lnTo>
                  <a:lnTo>
                    <a:pt x="2177094" y="1572924"/>
                  </a:lnTo>
                  <a:lnTo>
                    <a:pt x="0" y="1572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53205" t="-345302" r="-316932" b="-6514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504775" y="221262"/>
              <a:ext cx="2542258" cy="1514830"/>
            </a:xfrm>
            <a:custGeom>
              <a:avLst/>
              <a:gdLst/>
              <a:ahLst/>
              <a:cxnLst/>
              <a:rect r="r" b="b" t="t" l="l"/>
              <a:pathLst>
                <a:path h="1514830" w="2542258">
                  <a:moveTo>
                    <a:pt x="0" y="0"/>
                  </a:moveTo>
                  <a:lnTo>
                    <a:pt x="2542258" y="0"/>
                  </a:lnTo>
                  <a:lnTo>
                    <a:pt x="2542258" y="1514830"/>
                  </a:lnTo>
                  <a:lnTo>
                    <a:pt x="0" y="1514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65594" t="-357857" r="-379558" b="-72161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61763" y="65691"/>
              <a:ext cx="2500012" cy="1542761"/>
            </a:xfrm>
            <a:custGeom>
              <a:avLst/>
              <a:gdLst/>
              <a:ahLst/>
              <a:cxnLst/>
              <a:rect r="r" b="b" t="t" l="l"/>
              <a:pathLst>
                <a:path h="1542761" w="2500012">
                  <a:moveTo>
                    <a:pt x="0" y="0"/>
                  </a:moveTo>
                  <a:lnTo>
                    <a:pt x="2500012" y="0"/>
                  </a:lnTo>
                  <a:lnTo>
                    <a:pt x="2500012" y="1542762"/>
                  </a:lnTo>
                  <a:lnTo>
                    <a:pt x="0" y="154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52212" t="-348677" r="-505532" b="-71745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93393"/>
              <a:ext cx="2718763" cy="1487359"/>
            </a:xfrm>
            <a:custGeom>
              <a:avLst/>
              <a:gdLst/>
              <a:ahLst/>
              <a:cxnLst/>
              <a:rect r="r" b="b" t="t" l="l"/>
              <a:pathLst>
                <a:path h="1487359" w="2718763">
                  <a:moveTo>
                    <a:pt x="0" y="0"/>
                  </a:moveTo>
                  <a:lnTo>
                    <a:pt x="2718763" y="0"/>
                  </a:lnTo>
                  <a:lnTo>
                    <a:pt x="2718763" y="1487359"/>
                  </a:lnTo>
                  <a:lnTo>
                    <a:pt x="0" y="1487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8066" t="-364466" r="-568710" b="-75341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-5400000">
              <a:off x="6844414" y="757419"/>
              <a:ext cx="141605" cy="442516"/>
            </a:xfrm>
            <a:custGeom>
              <a:avLst/>
              <a:gdLst/>
              <a:ahLst/>
              <a:cxnLst/>
              <a:rect r="r" b="b" t="t" l="l"/>
              <a:pathLst>
                <a:path h="442516" w="141605">
                  <a:moveTo>
                    <a:pt x="0" y="0"/>
                  </a:moveTo>
                  <a:lnTo>
                    <a:pt x="141605" y="0"/>
                  </a:lnTo>
                  <a:lnTo>
                    <a:pt x="141605" y="442516"/>
                  </a:lnTo>
                  <a:lnTo>
                    <a:pt x="0" y="44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-5400000">
              <a:off x="10531410" y="686617"/>
              <a:ext cx="141605" cy="442516"/>
            </a:xfrm>
            <a:custGeom>
              <a:avLst/>
              <a:gdLst/>
              <a:ahLst/>
              <a:cxnLst/>
              <a:rect r="r" b="b" t="t" l="l"/>
              <a:pathLst>
                <a:path h="442516" w="141605">
                  <a:moveTo>
                    <a:pt x="0" y="0"/>
                  </a:moveTo>
                  <a:lnTo>
                    <a:pt x="141605" y="0"/>
                  </a:lnTo>
                  <a:lnTo>
                    <a:pt x="141605" y="442516"/>
                  </a:lnTo>
                  <a:lnTo>
                    <a:pt x="0" y="44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5400000">
              <a:off x="13864812" y="757419"/>
              <a:ext cx="141605" cy="442516"/>
            </a:xfrm>
            <a:custGeom>
              <a:avLst/>
              <a:gdLst/>
              <a:ahLst/>
              <a:cxnLst/>
              <a:rect r="r" b="b" t="t" l="l"/>
              <a:pathLst>
                <a:path h="442516" w="141605">
                  <a:moveTo>
                    <a:pt x="0" y="0"/>
                  </a:moveTo>
                  <a:lnTo>
                    <a:pt x="141605" y="0"/>
                  </a:lnTo>
                  <a:lnTo>
                    <a:pt x="141605" y="442516"/>
                  </a:lnTo>
                  <a:lnTo>
                    <a:pt x="0" y="44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-5400000">
              <a:off x="17504811" y="686617"/>
              <a:ext cx="141605" cy="442516"/>
            </a:xfrm>
            <a:custGeom>
              <a:avLst/>
              <a:gdLst/>
              <a:ahLst/>
              <a:cxnLst/>
              <a:rect r="r" b="b" t="t" l="l"/>
              <a:pathLst>
                <a:path h="442516" w="141605">
                  <a:moveTo>
                    <a:pt x="0" y="0"/>
                  </a:moveTo>
                  <a:lnTo>
                    <a:pt x="141606" y="0"/>
                  </a:lnTo>
                  <a:lnTo>
                    <a:pt x="141606" y="442516"/>
                  </a:lnTo>
                  <a:lnTo>
                    <a:pt x="0" y="44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5400000">
              <a:off x="3214102" y="757419"/>
              <a:ext cx="141605" cy="442516"/>
            </a:xfrm>
            <a:custGeom>
              <a:avLst/>
              <a:gdLst/>
              <a:ahLst/>
              <a:cxnLst/>
              <a:rect r="r" b="b" t="t" l="l"/>
              <a:pathLst>
                <a:path h="442516" w="141605">
                  <a:moveTo>
                    <a:pt x="0" y="0"/>
                  </a:moveTo>
                  <a:lnTo>
                    <a:pt x="141605" y="0"/>
                  </a:lnTo>
                  <a:lnTo>
                    <a:pt x="141605" y="442516"/>
                  </a:lnTo>
                  <a:lnTo>
                    <a:pt x="0" y="44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638969" y="1215791"/>
            <a:ext cx="11010061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Validación Técnica Offline-First: Prueba Documentada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67056">
            <a:off x="15641787" y="8075296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29539" y="9478517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3398560" y="816654"/>
            <a:ext cx="11490880" cy="17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0"/>
              </a:lnSpc>
              <a:spcBef>
                <a:spcPct val="0"/>
              </a:spcBef>
            </a:pPr>
            <a:r>
              <a:rPr lang="en-US" sz="6525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 Monitoreo Pedagógico y Cumplimiento Ético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5805" y="2775369"/>
            <a:ext cx="16796391" cy="5973618"/>
            <a:chOff x="0" y="0"/>
            <a:chExt cx="22395188" cy="7964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837953"/>
              <a:ext cx="12267139" cy="6238119"/>
            </a:xfrm>
            <a:custGeom>
              <a:avLst/>
              <a:gdLst/>
              <a:ahLst/>
              <a:cxnLst/>
              <a:rect r="r" b="b" t="t" l="l"/>
              <a:pathLst>
                <a:path h="6238119" w="12267139">
                  <a:moveTo>
                    <a:pt x="0" y="0"/>
                  </a:moveTo>
                  <a:lnTo>
                    <a:pt x="12267139" y="0"/>
                  </a:lnTo>
                  <a:lnTo>
                    <a:pt x="12267139" y="6238119"/>
                  </a:lnTo>
                  <a:lnTo>
                    <a:pt x="0" y="623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7317" t="-38635" r="-25897" b="-30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2267139" y="-38100"/>
              <a:ext cx="10128049" cy="8002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Dashboard en Tiempo Real: Interfaz administrativa prote</a:t>
              </a: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gida por PIN para el seguimiento del aula.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Métricas Curriculares: Visualización del puntaje acumulado por eje (Matemáticas, Lenguaje y Total).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Protección de Datos Sensibles: Difuminado y enmascaramiento digital de los nombres de los 20 menores evaluados para proteger su identidad personal (Fig. 10).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Consola Firestore: Estructura NoSQL de documentos que alimenta el dashboard de forma asíncrona (Fig. 11).</a:t>
              </a:r>
            </a:p>
            <a:p>
              <a:pPr algn="ctr">
                <a:lnSpc>
                  <a:spcPts val="264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529695" y="6214160"/>
            <a:ext cx="3570249" cy="1379009"/>
          </a:xfrm>
          <a:custGeom>
            <a:avLst/>
            <a:gdLst/>
            <a:ahLst/>
            <a:cxnLst/>
            <a:rect r="r" b="b" t="t" l="l"/>
            <a:pathLst>
              <a:path h="1379009" w="3570249">
                <a:moveTo>
                  <a:pt x="0" y="0"/>
                </a:moveTo>
                <a:lnTo>
                  <a:pt x="3570249" y="0"/>
                </a:lnTo>
                <a:lnTo>
                  <a:pt x="3570249" y="1379009"/>
                </a:lnTo>
                <a:lnTo>
                  <a:pt x="0" y="137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3215" y="9478517"/>
            <a:ext cx="5149252" cy="1413704"/>
          </a:xfrm>
          <a:custGeom>
            <a:avLst/>
            <a:gdLst/>
            <a:ahLst/>
            <a:cxnLst/>
            <a:rect r="r" b="b" t="t" l="l"/>
            <a:pathLst>
              <a:path h="1413704" w="5149252">
                <a:moveTo>
                  <a:pt x="0" y="0"/>
                </a:moveTo>
                <a:lnTo>
                  <a:pt x="5149252" y="0"/>
                </a:lnTo>
                <a:lnTo>
                  <a:pt x="5149252" y="1413704"/>
                </a:lnTo>
                <a:lnTo>
                  <a:pt x="0" y="1413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12938" y="-808705"/>
            <a:ext cx="3185853" cy="3259185"/>
          </a:xfrm>
          <a:custGeom>
            <a:avLst/>
            <a:gdLst/>
            <a:ahLst/>
            <a:cxnLst/>
            <a:rect r="r" b="b" t="t" l="l"/>
            <a:pathLst>
              <a:path h="3259185" w="3185853">
                <a:moveTo>
                  <a:pt x="0" y="0"/>
                </a:moveTo>
                <a:lnTo>
                  <a:pt x="3185854" y="0"/>
                </a:lnTo>
                <a:lnTo>
                  <a:pt x="3185854" y="3259185"/>
                </a:lnTo>
                <a:lnTo>
                  <a:pt x="0" y="3259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97350" y="-2408244"/>
            <a:ext cx="3547365" cy="3199078"/>
          </a:xfrm>
          <a:custGeom>
            <a:avLst/>
            <a:gdLst/>
            <a:ahLst/>
            <a:cxnLst/>
            <a:rect r="r" b="b" t="t" l="l"/>
            <a:pathLst>
              <a:path h="3199078" w="3547365">
                <a:moveTo>
                  <a:pt x="0" y="0"/>
                </a:moveTo>
                <a:lnTo>
                  <a:pt x="3547365" y="0"/>
                </a:lnTo>
                <a:lnTo>
                  <a:pt x="3547365" y="3199078"/>
                </a:lnTo>
                <a:lnTo>
                  <a:pt x="0" y="3199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395127" y="9016826"/>
            <a:ext cx="2551035" cy="1665130"/>
          </a:xfrm>
          <a:custGeom>
            <a:avLst/>
            <a:gdLst/>
            <a:ahLst/>
            <a:cxnLst/>
            <a:rect r="r" b="b" t="t" l="l"/>
            <a:pathLst>
              <a:path h="1665130" w="2551035">
                <a:moveTo>
                  <a:pt x="0" y="0"/>
                </a:moveTo>
                <a:lnTo>
                  <a:pt x="2551035" y="0"/>
                </a:lnTo>
                <a:lnTo>
                  <a:pt x="2551035" y="1665130"/>
                </a:lnTo>
                <a:lnTo>
                  <a:pt x="0" y="16651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380537" y="2749217"/>
            <a:ext cx="3260927" cy="2419015"/>
          </a:xfrm>
          <a:custGeom>
            <a:avLst/>
            <a:gdLst/>
            <a:ahLst/>
            <a:cxnLst/>
            <a:rect r="r" b="b" t="t" l="l"/>
            <a:pathLst>
              <a:path h="2419015" w="3260927">
                <a:moveTo>
                  <a:pt x="0" y="0"/>
                </a:moveTo>
                <a:lnTo>
                  <a:pt x="3260927" y="0"/>
                </a:lnTo>
                <a:lnTo>
                  <a:pt x="3260927" y="2419015"/>
                </a:lnTo>
                <a:lnTo>
                  <a:pt x="0" y="2419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7418830" y="820888"/>
            <a:ext cx="9539536" cy="8052440"/>
            <a:chOff x="0" y="0"/>
            <a:chExt cx="12719381" cy="107365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594829"/>
              <a:ext cx="12719381" cy="8141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39754" indent="-269877" lvl="1">
                <a:lnSpc>
                  <a:spcPts val="35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Extreme Programming (XP): </a:t>
              </a:r>
              <a:r>
                <a:rPr lang="en-US" b="true" sz="25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Adopción de desarrollo iterativo, revisiones continuas e integración frecuente.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 marL="539754" indent="-269877" lvl="1">
                <a:lnSpc>
                  <a:spcPts val="35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Programación en Parejas: Escritura y resolución de código desde estación principal para asegurar revisión compartida y mitigar errores en equipo.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 marL="539754" indent="-269877" lvl="1">
                <a:lnSpc>
                  <a:spcPts val="35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Repositorio Centralizado: Estructura limpia de Flutter en GitHub con ramas e historial de cambios verificable.</a:t>
              </a:r>
            </a:p>
            <a:p>
              <a:pPr algn="just">
                <a:lnSpc>
                  <a:spcPts val="3500"/>
                </a:lnSpc>
              </a:pPr>
            </a:p>
            <a:p>
              <a:pPr algn="just" marL="539754" indent="-269877" lvl="1">
                <a:lnSpc>
                  <a:spcPts val="35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FFFFFF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Diagnóstico Metodológico Honesto: Declaración transparente de que las pruebas unitarias automatizadas (TDD) se encuentran en fase de implementación para certificar la cobertura técnica.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19100" y="114300"/>
              <a:ext cx="12300281" cy="2305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90"/>
                </a:lnSpc>
                <a:spcBef>
                  <a:spcPct val="0"/>
                </a:spcBef>
              </a:pPr>
              <a:r>
                <a:rPr lang="en-US" sz="6525">
                  <a:solidFill>
                    <a:srgbClr val="FFFFFF"/>
                  </a:solidFill>
                  <a:latin typeface="Lazydog 1"/>
                  <a:ea typeface="Lazydog 1"/>
                  <a:cs typeface="Lazydog 1"/>
                  <a:sym typeface="Lazydog 1"/>
                </a:rPr>
                <a:t>Prácticas Ágiles y Control de Versiones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8345" y="231368"/>
            <a:ext cx="6262532" cy="9896852"/>
            <a:chOff x="0" y="0"/>
            <a:chExt cx="8350042" cy="131958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4682" y="0"/>
              <a:ext cx="7720679" cy="7380122"/>
            </a:xfrm>
            <a:custGeom>
              <a:avLst/>
              <a:gdLst/>
              <a:ahLst/>
              <a:cxnLst/>
              <a:rect r="r" b="b" t="t" l="l"/>
              <a:pathLst>
                <a:path h="7380122" w="7720679">
                  <a:moveTo>
                    <a:pt x="0" y="0"/>
                  </a:moveTo>
                  <a:lnTo>
                    <a:pt x="7720678" y="0"/>
                  </a:lnTo>
                  <a:lnTo>
                    <a:pt x="7720678" y="7380122"/>
                  </a:lnTo>
                  <a:lnTo>
                    <a:pt x="0" y="7380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49470" t="-48935" r="-160081" b="-3313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395838"/>
              <a:ext cx="8350042" cy="6799964"/>
            </a:xfrm>
            <a:custGeom>
              <a:avLst/>
              <a:gdLst/>
              <a:ahLst/>
              <a:cxnLst/>
              <a:rect r="r" b="b" t="t" l="l"/>
              <a:pathLst>
                <a:path h="6799964" w="8350042">
                  <a:moveTo>
                    <a:pt x="0" y="0"/>
                  </a:moveTo>
                  <a:lnTo>
                    <a:pt x="8350042" y="0"/>
                  </a:lnTo>
                  <a:lnTo>
                    <a:pt x="8350042" y="6799964"/>
                  </a:lnTo>
                  <a:lnTo>
                    <a:pt x="0" y="6799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37452" t="-61237" r="-48768" b="-3636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33874" y="317318"/>
            <a:ext cx="11455877" cy="151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8"/>
              </a:lnSpc>
              <a:spcBef>
                <a:spcPct val="0"/>
              </a:spcBef>
            </a:pPr>
            <a:r>
              <a:rPr lang="en-US" sz="58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Matriz de Retroalimentación y Mejoras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3587" cy="10287000"/>
          </a:xfrm>
          <a:custGeom>
            <a:avLst/>
            <a:gdLst/>
            <a:ahLst/>
            <a:cxnLst/>
            <a:rect r="r" b="b" t="t" l="l"/>
            <a:pathLst>
              <a:path h="10287000" w="2053587">
                <a:moveTo>
                  <a:pt x="0" y="0"/>
                </a:moveTo>
                <a:lnTo>
                  <a:pt x="2053587" y="0"/>
                </a:lnTo>
                <a:lnTo>
                  <a:pt x="20535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967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24698" y="0"/>
            <a:ext cx="2963302" cy="10287000"/>
          </a:xfrm>
          <a:custGeom>
            <a:avLst/>
            <a:gdLst/>
            <a:ahLst/>
            <a:cxnLst/>
            <a:rect r="r" b="b" t="t" l="l"/>
            <a:pathLst>
              <a:path h="10287000" w="2963302">
                <a:moveTo>
                  <a:pt x="0" y="0"/>
                </a:moveTo>
                <a:lnTo>
                  <a:pt x="2963302" y="0"/>
                </a:lnTo>
                <a:lnTo>
                  <a:pt x="29633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1465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1374" y="1835332"/>
            <a:ext cx="15194975" cy="7925216"/>
          </a:xfrm>
          <a:custGeom>
            <a:avLst/>
            <a:gdLst/>
            <a:ahLst/>
            <a:cxnLst/>
            <a:rect r="r" b="b" t="t" l="l"/>
            <a:pathLst>
              <a:path h="7925216" w="15194975">
                <a:moveTo>
                  <a:pt x="0" y="0"/>
                </a:moveTo>
                <a:lnTo>
                  <a:pt x="15194975" y="0"/>
                </a:lnTo>
                <a:lnTo>
                  <a:pt x="15194975" y="7925216"/>
                </a:lnTo>
                <a:lnTo>
                  <a:pt x="0" y="7925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26" t="-18891" r="-5257" b="-507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15563"/>
          </a:xfrm>
          <a:custGeom>
            <a:avLst/>
            <a:gdLst/>
            <a:ahLst/>
            <a:cxnLst/>
            <a:rect r="r" b="b" t="t" l="l"/>
            <a:pathLst>
              <a:path h="10215563" w="18288000">
                <a:moveTo>
                  <a:pt x="0" y="0"/>
                </a:moveTo>
                <a:lnTo>
                  <a:pt x="18288000" y="0"/>
                </a:lnTo>
                <a:lnTo>
                  <a:pt x="18288000" y="10215563"/>
                </a:lnTo>
                <a:lnTo>
                  <a:pt x="0" y="10215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39793" y="2571890"/>
            <a:ext cx="4318234" cy="2762400"/>
          </a:xfrm>
          <a:custGeom>
            <a:avLst/>
            <a:gdLst/>
            <a:ahLst/>
            <a:cxnLst/>
            <a:rect r="r" b="b" t="t" l="l"/>
            <a:pathLst>
              <a:path h="2762400" w="4318234">
                <a:moveTo>
                  <a:pt x="0" y="0"/>
                </a:moveTo>
                <a:lnTo>
                  <a:pt x="4318234" y="0"/>
                </a:lnTo>
                <a:lnTo>
                  <a:pt x="4318234" y="2762399"/>
                </a:lnTo>
                <a:lnTo>
                  <a:pt x="0" y="276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3444" t="-91810" r="-38581" b="-1767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6455" y="1123950"/>
            <a:ext cx="1341509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Participación y Roles del Equipo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52966" y="5352733"/>
            <a:ext cx="4761766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Nicolás Valenzuela Flores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(Arquitectura y Datos): Incorpo</a:t>
            </a: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ración del motor de voz TTS en matemáticas, desarrollo de la zona de cálculo flotante y persistencia SQLite/Firestore.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4138" y="5286664"/>
            <a:ext cx="3999725" cy="348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Diego Martínez Fierro (Gestión Ágil y Calidad): Unific</a:t>
            </a: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ación del registro de estudiantes, balanceo de dificultad en adivinanzas y seguimiento del backlog en Jira.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7792" y="5286664"/>
            <a:ext cx="3999725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Jonathan Araneda Martínez (UX / UI y Analítica): Verific</a:t>
            </a: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ación heurística de trazos en la pizarra, límites de tiempo por reactivo y diseño visual del panel docente.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415888" cy="10287000"/>
          </a:xfrm>
          <a:custGeom>
            <a:avLst/>
            <a:gdLst/>
            <a:ahLst/>
            <a:cxnLst/>
            <a:rect r="r" b="b" t="t" l="l"/>
            <a:pathLst>
              <a:path h="10287000" w="18415888">
                <a:moveTo>
                  <a:pt x="0" y="0"/>
                </a:moveTo>
                <a:lnTo>
                  <a:pt x="18415888" y="0"/>
                </a:lnTo>
                <a:lnTo>
                  <a:pt x="18415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8560" y="715335"/>
            <a:ext cx="11490880" cy="17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0"/>
              </a:lnSpc>
              <a:spcBef>
                <a:spcPct val="0"/>
              </a:spcBef>
            </a:pPr>
            <a:r>
              <a:rPr lang="en-US" sz="6525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Gestión de Riesgos y Continuidad Operacional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2871" y="5747389"/>
            <a:ext cx="4257167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Restricción de tiempo severa debido a que los 3 inte</a:t>
            </a:r>
            <a:r>
              <a:rPr lang="en-US" b="true" sz="26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grantes cursan su práctica profesional laboral de lunes a viernes (09:00 a 18:00 hrs).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0790" y="3344472"/>
            <a:ext cx="44794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Dificultad Principal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22208" y="5747389"/>
            <a:ext cx="4415925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Disponibilidad de APK beta ejecutable, persistenci</a:t>
            </a:r>
            <a:r>
              <a:rPr lang="en-US" b="true" sz="26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a offline comprobada, control de versiones activo y retroalimentación empírica con usuarios reales.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31733" y="3344472"/>
            <a:ext cx="44794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Facilitadores Clave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87745" y="3079995"/>
            <a:ext cx="4669939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Medidas de Mitigación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03646" y="3810562"/>
            <a:ext cx="4754038" cy="52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54" indent="-269877" lvl="1">
              <a:lnSpc>
                <a:spcPts val="3500"/>
              </a:lnSpc>
              <a:buAutoNum type="arabicPeriod" startAt="1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Descomposición de requerimientos en tareas pequeñ</a:t>
            </a: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as con definición de terminado (DoD) en Jira.</a:t>
            </a:r>
          </a:p>
          <a:p>
            <a:pPr algn="ctr" marL="539754" indent="-269877" lvl="1">
              <a:lnSpc>
                <a:spcPts val="3500"/>
              </a:lnSpc>
              <a:buAutoNum type="arabicPeriod" startAt="1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Sesiones de desarrollo y pruebas concentradas fuera de la jornada laboral.</a:t>
            </a:r>
          </a:p>
          <a:p>
            <a:pPr algn="ctr" marL="539754" indent="-269877" lvl="1">
              <a:lnSpc>
                <a:spcPts val="3500"/>
              </a:lnSpc>
              <a:buAutoNum type="arabicPeriod" startAt="1"/>
            </a:pPr>
            <a:r>
              <a:rPr lang="en-US" b="true" sz="2500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Construcción focalizada de la suite automatizada para las funciones críticas de guardado y cálculo.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351944" cy="10251281"/>
          </a:xfrm>
          <a:custGeom>
            <a:avLst/>
            <a:gdLst/>
            <a:ahLst/>
            <a:cxnLst/>
            <a:rect r="r" b="b" t="t" l="l"/>
            <a:pathLst>
              <a:path h="10251281" w="18351944">
                <a:moveTo>
                  <a:pt x="0" y="0"/>
                </a:moveTo>
                <a:lnTo>
                  <a:pt x="18351944" y="0"/>
                </a:lnTo>
                <a:lnTo>
                  <a:pt x="18351944" y="10251281"/>
                </a:lnTo>
                <a:lnTo>
                  <a:pt x="0" y="1025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44210" y="518178"/>
            <a:ext cx="11490880" cy="170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0"/>
              </a:lnSpc>
              <a:spcBef>
                <a:spcPct val="0"/>
              </a:spcBef>
            </a:pPr>
            <a:r>
              <a:rPr lang="en-US" sz="6525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Plan de Trabajo Hacia la Entrega Final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569" y="-36459"/>
            <a:ext cx="18280237" cy="10359918"/>
          </a:xfrm>
          <a:custGeom>
            <a:avLst/>
            <a:gdLst/>
            <a:ahLst/>
            <a:cxnLst/>
            <a:rect r="r" b="b" t="t" l="l"/>
            <a:pathLst>
              <a:path h="10359918" w="18280237">
                <a:moveTo>
                  <a:pt x="0" y="0"/>
                </a:moveTo>
                <a:lnTo>
                  <a:pt x="18280236" y="0"/>
                </a:lnTo>
                <a:lnTo>
                  <a:pt x="18280236" y="10359918"/>
                </a:lnTo>
                <a:lnTo>
                  <a:pt x="0" y="10359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456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292340" y="1485900"/>
            <a:ext cx="3703320" cy="8229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231889" y="676275"/>
            <a:ext cx="38242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9"/>
              </a:lnSpc>
              <a:spcBef>
                <a:spcPct val="0"/>
              </a:spcBef>
            </a:pPr>
            <a:r>
              <a:rPr lang="en-US" sz="5999" spc="-179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eVIDENCIA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1437"/>
            <a:ext cx="18288000" cy="10215563"/>
          </a:xfrm>
          <a:custGeom>
            <a:avLst/>
            <a:gdLst/>
            <a:ahLst/>
            <a:cxnLst/>
            <a:rect r="r" b="b" t="t" l="l"/>
            <a:pathLst>
              <a:path h="10215563" w="18288000">
                <a:moveTo>
                  <a:pt x="0" y="0"/>
                </a:moveTo>
                <a:lnTo>
                  <a:pt x="18288000" y="0"/>
                </a:lnTo>
                <a:lnTo>
                  <a:pt x="18288000" y="10215563"/>
                </a:lnTo>
                <a:lnTo>
                  <a:pt x="0" y="10215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0623" y="1143000"/>
            <a:ext cx="14226755" cy="8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0"/>
              </a:lnSpc>
              <a:spcBef>
                <a:spcPct val="0"/>
              </a:spcBef>
            </a:pPr>
            <a:r>
              <a:rPr lang="en-US" sz="6525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Conclusiones y Estado de Avance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6594" y="3292142"/>
            <a:ext cx="4256139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Producto Tangible: Aprendo Jugando cuenta con una APK beta sólida, funcional y con pruebas reales de persistencia y sincronización.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31806" y="2673017"/>
            <a:ext cx="4224388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Viabilidad Demostrada: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La arquitectura offline-first garantiza equidad de acceso para infantes en contextos de vulnerabilidad técnica.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9444" y="2771265"/>
            <a:ext cx="3684608" cy="616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Mejora Basada en Evidencia: Los ajustes de la Fase 2 responden a observaciones empíricas de usabilidad y pautas pedagógicas.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7" t="-13616" r="-2508" b="-102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9139" y="4271674"/>
            <a:ext cx="14226755" cy="87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0"/>
              </a:lnSpc>
              <a:spcBef>
                <a:spcPct val="0"/>
              </a:spcBef>
            </a:pPr>
            <a:r>
              <a:rPr lang="en-US" sz="6525">
                <a:solidFill>
                  <a:srgbClr val="FFFFFF"/>
                </a:solidFill>
                <a:latin typeface="Lazydog 1"/>
                <a:ea typeface="Lazydog 1"/>
                <a:cs typeface="Lazydog 1"/>
                <a:sym typeface="Lazydog 1"/>
              </a:rPr>
              <a:t>Gracias por su atenciÓN!!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DAHX56ht7eU</dc:identifier>
  <dcterms:modified xsi:type="dcterms:W3CDTF">2011-08-01T06:04:30Z</dcterms:modified>
  <cp:revision>1</cp:revision>
  <dc:title>Copia de Capstone</dc:title>
</cp:coreProperties>
</file>